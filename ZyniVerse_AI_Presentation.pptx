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yourself. ZyniVerse is a full anime &amp; manga community platform for India. The unique angle for this talk: AI is not a bolted-on tab — it is the engine that powers discovery, search, chat, and social features. 9+ real AI features, built on top of Google's Gemini 2.5 flash, with a custom hybrid recommender running server-side.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problem: fans are spread across 3-4 apps; India has almost zero tooling for finding Hindi/Tamil/Telugu dubs or filler episodes; discovery is manual; and watching is a lonely activity. ZyniVerse was built to collapse all of these into one platform — and AI is what makes that possible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the product: it's a companion &amp; social ecosystem over anime catalogs — content intelligence is pulled live from AniList/MyAnimeList/MangaDex/TMDB. Scale: 224+ pages, 409 API routes, 268 components, ~190 database models, shipped on 4 surfaces (web, Chrome extension, mobile app, Discord bot). Every surface feeds the same AI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stack quickly: Next.js 16 App Router + React 19 + TypeScript; Prisma on Postgres with ~190 models; Stripe for Pro + UPI payments; Socket.io for realtime watch-parties with WebRTC voice; Redis rate limiting; HLS streaming; R2 + Supabase storage; NextAuth v5 OAuth. QA via Vitest and k6 load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AI surface is one wrapper: src/lib/gemini.ts. Every feature — chat, identify, vibe, night planner, theories — runs through the same pipeline: quota check (AiUsageDaily: 20/day per user, 1200/day global), SHA-256 cache lookup in AiCache, then geminiGenerate with JSON output mode, retries on 429/5xx, and a regex-tolerant JSON parser. This is how nine AI features run on one tiny Gemini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personalities: Zyni AI is a domain expert whose chat replies include real, clickable recommendations resolved against AniList — so the chat doesn't just talk, it leads somewhere. Character Chat does in-character roleplay and, uniquely for an Indian audience, replies in Hinglish. Both share the same quota + cache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hero AI features. Screenshot Identify sends the image as base64 inline_data and returns structured JSON: title, confidence, guessed episode, characters — this is how users settle 'which anime is this frame?' debates. Vibe Search turns natural-language moods into real catalogue titles. Both are single requests through the same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AIs + two social engines: Night Planner fuses a friend group's taste into a themed lineup then auto-creates a real watch-party. Watch Parties run on Socket.io with synced playback plus WebRTC voice and screen-share. Character Tournaments give the crowd ranked battles. AI Lab generates fan theories the community then votes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features, not demo-only: Skip Filler sums up filler episodes (supported by crowd-voted filler data and 200 guides); AI search and the Mixer layer semantics over the real AniList index; the Hinglish reels generator automates content creation with an ffmpeg pipeline; and the in-app manga reader covers chapters, doujinshi and light novels.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all AI here is a language model. This deterministic engine builds a 30-day activity profile, seeds cold-start users from onboarding favorite genres, weights actions (add-to-list=5 vs a plain view=3), applies time-decay so old events fade, and ranks candidates by genre/search/similarity — each rec ships with a human-readable reason. The same profile powers the 'My Year in Anime' Wrapped recap and streaks.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features your class project almost certainly doesn't have: an MV3 Chrome extension that injects filler percentage and Indian dub status directly onto MAL/AniList/Anime-Planet plus right-click search; a JioTV EPG scraper powering the TV schedule; a Discord bot; and a public API v1 with scrobbling, dub status and webhooks. All of it rides production hardening: 37 scrapers blocked, three caching layers, k6 load tests, Stripe Pro with UPI.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thesis: AI is the engine, not a feature. Walk the live demo: ask Zyni AI, drop a screenshot to identify, search by vibe, install the extension for the dub badge, plan an anime night, then press play together. Thank the judges and open Q&amp;A. Mention zyverse.in.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737360"/>
            <a:ext cx="4754880" cy="4754880"/>
          </a:xfrm>
          <a:prstGeom prst="ellipse">
            <a:avLst/>
          </a:prstGeom>
          <a:solidFill>
            <a:srgbClr val="7F5AF0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4480560"/>
            <a:ext cx="4206240" cy="4206240"/>
          </a:xfrm>
          <a:prstGeom prst="ellipse">
            <a:avLst/>
          </a:prstGeom>
          <a:solidFill>
            <a:srgbClr val="E5317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-2194560"/>
            <a:ext cx="3108960" cy="3108960"/>
          </a:xfrm>
          <a:prstGeom prst="ellipse">
            <a:avLst/>
          </a:prstGeom>
          <a:solidFill>
            <a:srgbClr val="00C2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3840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53170"/>
                </a:solidFill>
                <a:latin typeface="Segoe UI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8686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C257"/>
                </a:solidFill>
                <a:latin typeface="Segoe UI"/>
              </a:rPr>
              <a:t>✧</a:t>
            </a:r>
          </a:p>
        </p:txBody>
      </p:sp>
      <p:sp>
        <p:nvSpPr>
          <p:cNvPr id="8" name="Oval 7"/>
          <p:cNvSpPr/>
          <p:nvPr/>
        </p:nvSpPr>
        <p:spPr>
          <a:xfrm>
            <a:off x="11539728" y="1042415"/>
            <a:ext cx="82296" cy="82296"/>
          </a:xfrm>
          <a:prstGeom prst="ellipse">
            <a:avLst/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6327648"/>
            <a:ext cx="54864" cy="54864"/>
          </a:xfrm>
          <a:prstGeom prst="ellipse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92640" y="-1554480"/>
            <a:ext cx="3840480" cy="3840480"/>
          </a:xfrm>
          <a:prstGeom prst="ellipse">
            <a:avLst/>
          </a:prstGeom>
          <a:noFill/>
          <a:ln w="25400">
            <a:solidFill>
              <a:srgbClr val="2A2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0" y="-822960"/>
            <a:ext cx="2377440" cy="2377440"/>
          </a:xfrm>
          <a:prstGeom prst="ellipse">
            <a:avLst/>
          </a:prstGeom>
          <a:noFill/>
          <a:ln w="19050">
            <a:solidFill>
              <a:srgbClr val="E531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-1737360" y="4389120"/>
            <a:ext cx="3657600" cy="3657600"/>
          </a:xfrm>
          <a:prstGeom prst="ellipse">
            <a:avLst/>
          </a:prstGeom>
          <a:noFill/>
          <a:ln w="25400">
            <a:solidFill>
              <a:srgbClr val="2A27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5-Point Star 13"/>
          <p:cNvSpPr/>
          <p:nvPr/>
        </p:nvSpPr>
        <p:spPr>
          <a:xfrm>
            <a:off x="-320040" y="4892040"/>
            <a:ext cx="310896" cy="310896"/>
          </a:xfrm>
          <a:prstGeom prst="star5">
            <a:avLst/>
          </a:prstGeom>
          <a:solidFill>
            <a:srgbClr val="FFC25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5-Point Star 14"/>
          <p:cNvSpPr/>
          <p:nvPr/>
        </p:nvSpPr>
        <p:spPr>
          <a:xfrm>
            <a:off x="11521440" y="3749039"/>
            <a:ext cx="274320" cy="274320"/>
          </a:xfrm>
          <a:prstGeom prst="star5">
            <a:avLst/>
          </a:prstGeom>
          <a:solidFill>
            <a:srgbClr val="7F5AF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5-Point Star 15"/>
          <p:cNvSpPr/>
          <p:nvPr/>
        </p:nvSpPr>
        <p:spPr>
          <a:xfrm>
            <a:off x="10241280" y="5577840"/>
            <a:ext cx="219456" cy="219456"/>
          </a:xfrm>
          <a:prstGeom prst="star5">
            <a:avLst/>
          </a:prstGeom>
          <a:solidFill>
            <a:srgbClr val="00C2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80644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53170"/>
                </a:solidFill>
                <a:latin typeface="Segoe UI"/>
              </a:rPr>
              <a:t>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03504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C257"/>
                </a:solidFill>
                <a:latin typeface="Segoe UI"/>
              </a:rPr>
              <a:t>✧</a:t>
            </a:r>
          </a:p>
        </p:txBody>
      </p:sp>
      <p:pic>
        <p:nvPicPr>
          <p:cNvPr id="19" name="Picture 1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475488"/>
            <a:ext cx="2286000" cy="2286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2871216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500">
                <a:solidFill>
                  <a:srgbClr val="A7A9BE"/>
                </a:solidFill>
                <a:latin typeface="Segoe UI"/>
              </a:rPr>
              <a:t>TECHNICAL PRESENTATION ·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00400"/>
            <a:ext cx="1127455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FFFFFE"/>
                </a:solidFill>
                <a:latin typeface="Segoe UI Black"/>
              </a:rPr>
              <a:t>ZyniVerse</a:t>
            </a:r>
            <a:r>
              <a:rPr sz="5800" b="1">
                <a:solidFill>
                  <a:srgbClr val="5A5B7A"/>
                </a:solidFill>
                <a:latin typeface="Segoe UI Black"/>
              </a:rPr>
              <a:t>  ×  </a:t>
            </a:r>
            <a:r>
              <a:rPr sz="5800" b="1">
                <a:solidFill>
                  <a:srgbClr val="E53170"/>
                </a:solidFill>
                <a:latin typeface="Segoe UI Black"/>
              </a:rPr>
              <a:t>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43400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C257"/>
                </a:solidFill>
                <a:latin typeface="Segoe UI"/>
              </a:rPr>
              <a:t>✦   ✧   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681728"/>
            <a:ext cx="11274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0C2FF"/>
                </a:solidFill>
                <a:latin typeface="Segoe UI"/>
              </a:rPr>
              <a:t>A next-gen anime community platform where AI is the engine — built for India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30168" y="5230368"/>
            <a:ext cx="4937760" cy="475488"/>
          </a:xfrm>
          <a:prstGeom prst="roundRect">
            <a:avLst>
              <a:gd name="adj" fmla="val 50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E"/>
                </a:solidFill>
                <a:latin typeface="Segoe UI"/>
              </a:rPr>
              <a:t>Discover  ·  Track  ·  Discuss  ·  Watch Together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053328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50">
                <a:solidFill>
                  <a:srgbClr val="A7A9BE"/>
                </a:solidFill>
                <a:latin typeface="Segoe UI"/>
              </a:rPr>
              <a:t>9+ AI FEATURES     ·     224+ PAGES     ·     409 API ROUTES     ·     ~190 DB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74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E"/>
                </a:solidFill>
                <a:latin typeface="Segoe UI"/>
              </a:rPr>
              <a:t>Presented by Parth Gupta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737360"/>
            <a:ext cx="4754880" cy="4754880"/>
          </a:xfrm>
          <a:prstGeom prst="ellipse">
            <a:avLst/>
          </a:prstGeom>
          <a:solidFill>
            <a:srgbClr val="7F5AF0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4480560"/>
            <a:ext cx="4206240" cy="4206240"/>
          </a:xfrm>
          <a:prstGeom prst="ellipse">
            <a:avLst/>
          </a:prstGeom>
          <a:solidFill>
            <a:srgbClr val="E5317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-2194560"/>
            <a:ext cx="3108960" cy="3108960"/>
          </a:xfrm>
          <a:prstGeom prst="ellipse">
            <a:avLst/>
          </a:prstGeom>
          <a:solidFill>
            <a:srgbClr val="00C2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3840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53170"/>
                </a:solidFill>
                <a:latin typeface="Segoe UI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8686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C257"/>
                </a:solidFill>
                <a:latin typeface="Segoe UI"/>
              </a:rPr>
              <a:t>✧</a:t>
            </a:r>
          </a:p>
        </p:txBody>
      </p:sp>
      <p:sp>
        <p:nvSpPr>
          <p:cNvPr id="8" name="Oval 7"/>
          <p:cNvSpPr/>
          <p:nvPr/>
        </p:nvSpPr>
        <p:spPr>
          <a:xfrm>
            <a:off x="11539728" y="1042415"/>
            <a:ext cx="82296" cy="82296"/>
          </a:xfrm>
          <a:prstGeom prst="ellipse">
            <a:avLst/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6327648"/>
            <a:ext cx="54864" cy="54864"/>
          </a:xfrm>
          <a:prstGeom prst="ellipse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47548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E"/>
                </a:solidFill>
                <a:latin typeface="Segoe UI Blac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84048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E"/>
                </a:solidFill>
                <a:latin typeface="Segoe UI Black"/>
              </a:rPr>
              <a:t>Anime Fans Are Scattered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07899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7A9BE"/>
                </a:solidFill>
                <a:latin typeface="Segoe UI"/>
              </a:rPr>
              <a:t>The discovery + community problem every Indian anime fan lives with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517904"/>
            <a:ext cx="1463040" cy="45720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1517904"/>
            <a:ext cx="640080" cy="45720"/>
          </a:xfrm>
          <a:prstGeom prst="rect">
            <a:avLst/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1481328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53170"/>
                </a:solidFill>
                <a:latin typeface="Segoe UI"/>
              </a:rPr>
              <a:t>✖  4 platforms · 0 synergy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1965960"/>
            <a:ext cx="5440680" cy="1755648"/>
          </a:xfrm>
          <a:prstGeom prst="roundRect">
            <a:avLst>
              <a:gd name="adj" fmla="val 7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2185415"/>
            <a:ext cx="64008" cy="566928"/>
          </a:xfrm>
          <a:prstGeom prst="roundRect">
            <a:avLst>
              <a:gd name="adj" fmla="val 50000"/>
            </a:avLst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2203704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53170"/>
                </a:solidFill>
                <a:latin typeface="Segoe UI"/>
              </a:rPr>
              <a:t>◆  </a:t>
            </a:r>
            <a:r>
              <a:rPr sz="1600" b="1">
                <a:solidFill>
                  <a:srgbClr val="FFFFFE"/>
                </a:solidFill>
                <a:latin typeface="Segoe UI Black"/>
              </a:rPr>
              <a:t>Fragmented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2715768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7A9BE"/>
                </a:solidFill>
                <a:latin typeface="Segoe UI"/>
              </a:rPr>
              <a:t>Watchlists live on MAL, AniList, Reddit and Discord — four places, one broken picture.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6" y="1965960"/>
            <a:ext cx="5440680" cy="1755648"/>
          </a:xfrm>
          <a:prstGeom prst="roundRect">
            <a:avLst>
              <a:gd name="adj" fmla="val 7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73952" y="2185415"/>
            <a:ext cx="64008" cy="566928"/>
          </a:xfrm>
          <a:prstGeom prst="roundRect">
            <a:avLst>
              <a:gd name="adj" fmla="val 50000"/>
            </a:avLst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11696" y="2203704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7F5AF0"/>
                </a:solidFill>
                <a:latin typeface="Segoe UI"/>
              </a:rPr>
              <a:t>✦  </a:t>
            </a:r>
            <a:r>
              <a:rPr sz="1600" b="1">
                <a:solidFill>
                  <a:srgbClr val="FFFFFE"/>
                </a:solidFill>
                <a:latin typeface="Segoe UI Black"/>
              </a:rPr>
              <a:t>Zero India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1696" y="2715768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7A9BE"/>
                </a:solidFill>
                <a:latin typeface="Segoe UI"/>
              </a:rPr>
              <a:t>Hindi / Tamil / Telugu dub schedules, filler lists, where-to-watch — everything is manual Google hunting.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" y="3904487"/>
            <a:ext cx="5440680" cy="1755648"/>
          </a:xfrm>
          <a:prstGeom prst="roundRect">
            <a:avLst>
              <a:gd name="adj" fmla="val 7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4123944"/>
            <a:ext cx="64008" cy="566928"/>
          </a:xfrm>
          <a:prstGeom prst="roundRect">
            <a:avLst>
              <a:gd name="adj" fmla="val 50000"/>
            </a:avLst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4142231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C2FF"/>
                </a:solidFill>
                <a:latin typeface="Segoe UI"/>
              </a:rPr>
              <a:t>●  </a:t>
            </a:r>
            <a:r>
              <a:rPr sz="1600" b="1">
                <a:solidFill>
                  <a:srgbClr val="FFFFFE"/>
                </a:solidFill>
                <a:latin typeface="Segoe UI Black"/>
              </a:rPr>
              <a:t>Manual Discovery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4654296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7A9BE"/>
                </a:solidFill>
                <a:latin typeface="Segoe UI"/>
              </a:rPr>
              <a:t>Finding 'what to watch next' means endless catalog clicking — no personalization, no vibes.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4496" y="3904487"/>
            <a:ext cx="5440680" cy="1755648"/>
          </a:xfrm>
          <a:prstGeom prst="roundRect">
            <a:avLst>
              <a:gd name="adj" fmla="val 7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4123944"/>
            <a:ext cx="64008" cy="566928"/>
          </a:xfrm>
          <a:prstGeom prst="roundRect">
            <a:avLst>
              <a:gd name="adj" fmla="val 50000"/>
            </a:avLst>
          </a:prstGeom>
          <a:solidFill>
            <a:srgbClr val="FFC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11696" y="4142231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C257"/>
                </a:solidFill>
                <a:latin typeface="Segoe UI"/>
              </a:rPr>
              <a:t>◈  </a:t>
            </a:r>
            <a:r>
              <a:rPr sz="1600" b="1">
                <a:solidFill>
                  <a:srgbClr val="FFFFFE"/>
                </a:solidFill>
                <a:latin typeface="Segoe UI Black"/>
              </a:rPr>
              <a:t>Solo Watching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1696" y="4654296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7A9BE"/>
                </a:solidFill>
                <a:latin typeface="Segoe UI"/>
              </a:rPr>
              <a:t>Everyone watches alone. No shared watch parties, no co-watching, no social layer around anime.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" y="6291072"/>
            <a:ext cx="11164824" cy="14630"/>
          </a:xfrm>
          <a:prstGeom prst="rect">
            <a:avLst/>
          </a:prstGeom>
          <a:solidFill>
            <a:srgbClr val="2C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320">
                <a:solidFill>
                  <a:srgbClr val="5A5B7A"/>
                </a:solidFill>
                <a:latin typeface="Segoe UI"/>
              </a:rPr>
              <a:t>ZYNIVERSE ×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6400800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60">
                <a:solidFill>
                  <a:srgbClr val="5A5B7A"/>
                </a:solidFill>
                <a:latin typeface="Segoe UI"/>
              </a:rPr>
              <a:t>PARTH GUPTA · 2026 · 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737360"/>
            <a:ext cx="4754880" cy="4754880"/>
          </a:xfrm>
          <a:prstGeom prst="ellipse">
            <a:avLst/>
          </a:prstGeom>
          <a:solidFill>
            <a:srgbClr val="7F5AF0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4480560"/>
            <a:ext cx="4206240" cy="4206240"/>
          </a:xfrm>
          <a:prstGeom prst="ellipse">
            <a:avLst/>
          </a:prstGeom>
          <a:solidFill>
            <a:srgbClr val="E5317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-2194560"/>
            <a:ext cx="3108960" cy="3108960"/>
          </a:xfrm>
          <a:prstGeom prst="ellipse">
            <a:avLst/>
          </a:prstGeom>
          <a:solidFill>
            <a:srgbClr val="00C2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3840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53170"/>
                </a:solidFill>
                <a:latin typeface="Segoe UI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8686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C257"/>
                </a:solidFill>
                <a:latin typeface="Segoe UI"/>
              </a:rPr>
              <a:t>✧</a:t>
            </a:r>
          </a:p>
        </p:txBody>
      </p:sp>
      <p:sp>
        <p:nvSpPr>
          <p:cNvPr id="8" name="Oval 7"/>
          <p:cNvSpPr/>
          <p:nvPr/>
        </p:nvSpPr>
        <p:spPr>
          <a:xfrm>
            <a:off x="11539728" y="1042415"/>
            <a:ext cx="82296" cy="82296"/>
          </a:xfrm>
          <a:prstGeom prst="ellipse">
            <a:avLst/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6327648"/>
            <a:ext cx="54864" cy="54864"/>
          </a:xfrm>
          <a:prstGeom prst="ellipse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47548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E"/>
                </a:solidFill>
                <a:latin typeface="Segoe UI Blac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84048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E"/>
                </a:solidFill>
                <a:latin typeface="Segoe UI Black"/>
              </a:rPr>
              <a:t>Introducing ZyniVerse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07899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7A9BE"/>
                </a:solidFill>
                <a:latin typeface="Segoe UI"/>
              </a:rPr>
              <a:t>An all-in-one anime &amp; manga community platform for India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517904"/>
            <a:ext cx="1463040" cy="45720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1517904"/>
            <a:ext cx="640080" cy="45720"/>
          </a:xfrm>
          <a:prstGeom prst="rect">
            <a:avLst/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1874519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C2FF"/>
                </a:solidFill>
                <a:latin typeface="Segoe UI Black"/>
              </a:rPr>
              <a:t>One platform, four pillars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2331720"/>
            <a:ext cx="5806440" cy="777240"/>
          </a:xfrm>
          <a:prstGeom prst="roundRect">
            <a:avLst>
              <a:gd name="adj" fmla="val 18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450591"/>
            <a:ext cx="45720" cy="539496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2441448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E"/>
                </a:solidFill>
                <a:latin typeface="Segoe UI Black"/>
              </a:rPr>
              <a:t>Discover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715768"/>
            <a:ext cx="5212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7A9BE"/>
                </a:solidFill>
                <a:latin typeface="Segoe UI"/>
              </a:rPr>
              <a:t>226+ pages of curated data — Trending, A–Z, Genre, Seasonal, Top, Dub schedules.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" y="3227832"/>
            <a:ext cx="5806440" cy="777240"/>
          </a:xfrm>
          <a:prstGeom prst="roundRect">
            <a:avLst>
              <a:gd name="adj" fmla="val 18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346703"/>
            <a:ext cx="45720" cy="539496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33756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E"/>
                </a:solidFill>
                <a:latin typeface="Segoe UI Black"/>
              </a:rPr>
              <a:t>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3611879"/>
            <a:ext cx="5212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7A9BE"/>
                </a:solidFill>
                <a:latin typeface="Segoe UI"/>
              </a:rPr>
              <a:t>Watchlists, fillers, watch-orders, manga chapters, 30-day activity timeline.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" y="4123944"/>
            <a:ext cx="5806440" cy="777240"/>
          </a:xfrm>
          <a:prstGeom prst="roundRect">
            <a:avLst>
              <a:gd name="adj" fmla="val 18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242816"/>
            <a:ext cx="45720" cy="539496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23367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E"/>
                </a:solidFill>
                <a:latin typeface="Segoe UI Black"/>
              </a:rPr>
              <a:t>Discuss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507992"/>
            <a:ext cx="5212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7A9BE"/>
                </a:solidFill>
                <a:latin typeface="Segoe UI"/>
              </a:rPr>
              <a:t>Posts, forums, clubs, reels, memes, fan-art, character battles &amp; tournaments.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" y="5020056"/>
            <a:ext cx="5806440" cy="777240"/>
          </a:xfrm>
          <a:prstGeom prst="roundRect">
            <a:avLst>
              <a:gd name="adj" fmla="val 18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5138928"/>
            <a:ext cx="45720" cy="539496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129784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E"/>
                </a:solidFill>
                <a:latin typeface="Segoe UI Black"/>
              </a:rPr>
              <a:t>Watch Together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5404104"/>
            <a:ext cx="5212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7A9BE"/>
                </a:solidFill>
                <a:latin typeface="Segoe UI"/>
              </a:rPr>
              <a:t>Socket.io watch-parties with sync, voice chat &amp; screen-share — HLS playback.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1874519"/>
            <a:ext cx="5001768" cy="3749039"/>
          </a:xfrm>
          <a:prstGeom prst="roundRect">
            <a:avLst>
              <a:gd name="adj" fmla="val 7000"/>
            </a:avLst>
          </a:prstGeom>
          <a:solidFill>
            <a:srgbClr val="242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1874519"/>
            <a:ext cx="5001768" cy="54864"/>
          </a:xfrm>
          <a:prstGeom prst="rect">
            <a:avLst/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67728" y="2084831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00">
                <a:solidFill>
                  <a:srgbClr val="E53170"/>
                </a:solidFill>
                <a:latin typeface="Segoe UI Black"/>
              </a:rPr>
              <a:t>THE PLATFORM AT A GLANCE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2542032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C2FF"/>
                </a:solidFill>
                <a:latin typeface="Segoe UI Black"/>
              </a:rPr>
              <a:t>224+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587751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E"/>
                </a:solidFill>
                <a:latin typeface="Segoe UI"/>
              </a:rPr>
              <a:t>App router pages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3154679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C2FF"/>
                </a:solidFill>
                <a:latin typeface="Segoe UI Black"/>
              </a:rPr>
              <a:t>409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200399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E"/>
                </a:solidFill>
                <a:latin typeface="Segoe UI"/>
              </a:rPr>
              <a:t>API route handlers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8" y="3767328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C2FF"/>
                </a:solidFill>
                <a:latin typeface="Segoe UI Black"/>
              </a:rPr>
              <a:t>268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81304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E"/>
                </a:solidFill>
                <a:latin typeface="Segoe UI"/>
              </a:rPr>
              <a:t>React components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7728" y="4379976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C2FF"/>
                </a:solidFill>
                <a:latin typeface="Segoe UI Black"/>
              </a:rPr>
              <a:t>~190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425696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E"/>
                </a:solidFill>
                <a:latin typeface="Segoe UI"/>
              </a:rPr>
              <a:t>Prisma / Postgres models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67728" y="4992624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C2FF"/>
                </a:solidFill>
                <a:latin typeface="Segoe UI Black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5038344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E"/>
                </a:solidFill>
                <a:latin typeface="Segoe UI"/>
              </a:rPr>
              <a:t>Surfaces: Web · Chrome Ext · Mobile · Discord bot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2064" y="6291072"/>
            <a:ext cx="11164824" cy="14630"/>
          </a:xfrm>
          <a:prstGeom prst="rect">
            <a:avLst/>
          </a:prstGeom>
          <a:solidFill>
            <a:srgbClr val="2C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064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320">
                <a:solidFill>
                  <a:srgbClr val="5A5B7A"/>
                </a:solidFill>
                <a:latin typeface="Segoe UI"/>
              </a:rPr>
              <a:t>ZYNIVERSE × 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6400800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60">
                <a:solidFill>
                  <a:srgbClr val="5A5B7A"/>
                </a:solidFill>
                <a:latin typeface="Segoe UI"/>
              </a:rPr>
              <a:t>PARTH GUPTA · 2026 · 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737360"/>
            <a:ext cx="4754880" cy="4754880"/>
          </a:xfrm>
          <a:prstGeom prst="ellipse">
            <a:avLst/>
          </a:prstGeom>
          <a:solidFill>
            <a:srgbClr val="7F5AF0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4480560"/>
            <a:ext cx="4206240" cy="4206240"/>
          </a:xfrm>
          <a:prstGeom prst="ellipse">
            <a:avLst/>
          </a:prstGeom>
          <a:solidFill>
            <a:srgbClr val="E5317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-2194560"/>
            <a:ext cx="3108960" cy="3108960"/>
          </a:xfrm>
          <a:prstGeom prst="ellipse">
            <a:avLst/>
          </a:prstGeom>
          <a:solidFill>
            <a:srgbClr val="00C2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3840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53170"/>
                </a:solidFill>
                <a:latin typeface="Segoe UI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8686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C257"/>
                </a:solidFill>
                <a:latin typeface="Segoe UI"/>
              </a:rPr>
              <a:t>✧</a:t>
            </a:r>
          </a:p>
        </p:txBody>
      </p:sp>
      <p:sp>
        <p:nvSpPr>
          <p:cNvPr id="8" name="Oval 7"/>
          <p:cNvSpPr/>
          <p:nvPr/>
        </p:nvSpPr>
        <p:spPr>
          <a:xfrm>
            <a:off x="11539728" y="1042415"/>
            <a:ext cx="82296" cy="82296"/>
          </a:xfrm>
          <a:prstGeom prst="ellipse">
            <a:avLst/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6327648"/>
            <a:ext cx="54864" cy="54864"/>
          </a:xfrm>
          <a:prstGeom prst="ellipse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47548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E"/>
                </a:solidFill>
                <a:latin typeface="Segoe UI Blac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84048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E"/>
                </a:solidFill>
                <a:latin typeface="Segoe UI Black"/>
              </a:rPr>
              <a:t>The Engineering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07899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7A9BE"/>
                </a:solidFill>
                <a:latin typeface="Segoe UI"/>
              </a:rPr>
              <a:t>One monorepo — Next.js 16 core, 4 client surfaces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517904"/>
            <a:ext cx="1463040" cy="45720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1517904"/>
            <a:ext cx="640080" cy="45720"/>
          </a:xfrm>
          <a:prstGeom prst="rect">
            <a:avLst/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" y="1783080"/>
            <a:ext cx="2688336" cy="1444752"/>
          </a:xfrm>
          <a:prstGeom prst="roundRect">
            <a:avLst>
              <a:gd name="adj" fmla="val 8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1947672"/>
            <a:ext cx="50292" cy="457200"/>
          </a:xfrm>
          <a:prstGeom prst="roundRect">
            <a:avLst>
              <a:gd name="adj" fmla="val 50000"/>
            </a:avLst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1965960"/>
            <a:ext cx="2185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E"/>
                </a:solidFill>
                <a:latin typeface="Segoe UI Black"/>
              </a:rPr>
              <a:t>Next.js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2496312"/>
            <a:ext cx="21214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7A9BE"/>
                </a:solidFill>
                <a:latin typeface="Segoe UI"/>
              </a:rPr>
              <a:t>App Router · React 19 · TS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1929384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F5AF0"/>
                </a:solidFill>
                <a:latin typeface="Segoe UI"/>
              </a:rPr>
              <a:t>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1783080"/>
            <a:ext cx="2688336" cy="1444752"/>
          </a:xfrm>
          <a:prstGeom prst="roundRect">
            <a:avLst>
              <a:gd name="adj" fmla="val 8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02152" y="1947672"/>
            <a:ext cx="50292" cy="457200"/>
          </a:xfrm>
          <a:prstGeom prst="roundRect">
            <a:avLst>
              <a:gd name="adj" fmla="val 50000"/>
            </a:avLst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1965960"/>
            <a:ext cx="2185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E"/>
                </a:solidFill>
                <a:latin typeface="Segoe UI Black"/>
              </a:rPr>
              <a:t>Prisma + PostgreSQL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6744" y="2496312"/>
            <a:ext cx="21214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7A9BE"/>
                </a:solidFill>
                <a:latin typeface="Segoe UI"/>
              </a:rPr>
              <a:t>~190 models, relation-mode Prisma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2976" y="1929384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53170"/>
                </a:solidFill>
                <a:latin typeface="Segoe UI"/>
              </a:rPr>
              <a:t>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6" y="1783080"/>
            <a:ext cx="2688336" cy="1444752"/>
          </a:xfrm>
          <a:prstGeom prst="roundRect">
            <a:avLst>
              <a:gd name="adj" fmla="val 8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27648" y="1947672"/>
            <a:ext cx="50292" cy="457200"/>
          </a:xfrm>
          <a:prstGeom prst="roundRect">
            <a:avLst>
              <a:gd name="adj" fmla="val 50000"/>
            </a:avLst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965960"/>
            <a:ext cx="2185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E"/>
                </a:solidFill>
                <a:latin typeface="Segoe UI Black"/>
              </a:rPr>
              <a:t>Stripe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496312"/>
            <a:ext cx="21214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7A9BE"/>
                </a:solidFill>
                <a:latin typeface="Segoe UI"/>
              </a:rPr>
              <a:t>Pro subs, UPI, merch, portal + webhooks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1" y="1929384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C2FF"/>
                </a:solidFill>
                <a:latin typeface="Segoe UI"/>
              </a:rPr>
              <a:t>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88552" y="1783080"/>
            <a:ext cx="2688336" cy="1444752"/>
          </a:xfrm>
          <a:prstGeom prst="roundRect">
            <a:avLst>
              <a:gd name="adj" fmla="val 8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53144" y="1947672"/>
            <a:ext cx="50292" cy="457200"/>
          </a:xfrm>
          <a:prstGeom prst="roundRect">
            <a:avLst>
              <a:gd name="adj" fmla="val 50000"/>
            </a:avLst>
          </a:prstGeom>
          <a:solidFill>
            <a:srgbClr val="FFC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17736" y="1965960"/>
            <a:ext cx="2185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E"/>
                </a:solidFill>
                <a:latin typeface="Segoe UI Black"/>
              </a:rPr>
              <a:t>Socket.io + WebRTC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7736" y="2496312"/>
            <a:ext cx="21214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7A9BE"/>
                </a:solidFill>
                <a:latin typeface="Segoe UI"/>
              </a:rPr>
              <a:t>Watch-parties, DMs, voice &amp; screen-share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73967" y="1929384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C257"/>
                </a:solidFill>
                <a:latin typeface="Segoe UI"/>
              </a:rPr>
              <a:t>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2064" y="3355848"/>
            <a:ext cx="2688336" cy="1444752"/>
          </a:xfrm>
          <a:prstGeom prst="roundRect">
            <a:avLst>
              <a:gd name="adj" fmla="val 8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76656" y="3520440"/>
            <a:ext cx="50292" cy="457200"/>
          </a:xfrm>
          <a:prstGeom prst="roundRect">
            <a:avLst>
              <a:gd name="adj" fmla="val 50000"/>
            </a:avLst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3538728"/>
            <a:ext cx="2185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E"/>
                </a:solidFill>
                <a:latin typeface="Segoe UI Black"/>
              </a:rPr>
              <a:t>Redis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4069080"/>
            <a:ext cx="21214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7A9BE"/>
                </a:solidFill>
                <a:latin typeface="Segoe UI"/>
              </a:rPr>
              <a:t>Rate-limiting (INCR/PEXPIRE) + in-mem fallback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3502152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F5AF0"/>
                </a:solidFill>
                <a:latin typeface="Segoe UI"/>
              </a:rPr>
              <a:t>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37560" y="3355848"/>
            <a:ext cx="2688336" cy="1444752"/>
          </a:xfrm>
          <a:prstGeom prst="roundRect">
            <a:avLst>
              <a:gd name="adj" fmla="val 8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502152" y="3520440"/>
            <a:ext cx="50292" cy="457200"/>
          </a:xfrm>
          <a:prstGeom prst="roundRect">
            <a:avLst>
              <a:gd name="adj" fmla="val 50000"/>
            </a:avLst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66744" y="3538728"/>
            <a:ext cx="2185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E"/>
                </a:solidFill>
                <a:latin typeface="Segoe UI Black"/>
              </a:rPr>
              <a:t>HLS + R2 / Supabase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66744" y="4069080"/>
            <a:ext cx="21214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7A9BE"/>
                </a:solidFill>
                <a:latin typeface="Segoe UI"/>
              </a:rPr>
              <a:t>hls.js streams, S3-presigned uploads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22976" y="3502152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53170"/>
                </a:solidFill>
                <a:latin typeface="Segoe UI"/>
              </a:rPr>
              <a:t>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63056" y="3355848"/>
            <a:ext cx="2688336" cy="1444752"/>
          </a:xfrm>
          <a:prstGeom prst="roundRect">
            <a:avLst>
              <a:gd name="adj" fmla="val 8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27648" y="3520440"/>
            <a:ext cx="50292" cy="457200"/>
          </a:xfrm>
          <a:prstGeom prst="roundRect">
            <a:avLst>
              <a:gd name="adj" fmla="val 50000"/>
            </a:avLst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3538728"/>
            <a:ext cx="2185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E"/>
                </a:solidFill>
                <a:latin typeface="Segoe UI Black"/>
              </a:rPr>
              <a:t>NextAuth v5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4069080"/>
            <a:ext cx="21214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7A9BE"/>
                </a:solidFill>
                <a:latin typeface="Segoe UI"/>
              </a:rPr>
              <a:t>Credentials + Google / GitHub / Discord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8471" y="3502152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C2FF"/>
                </a:solidFill>
                <a:latin typeface="Segoe UI"/>
              </a:rPr>
              <a:t>◆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88552" y="3355848"/>
            <a:ext cx="2688336" cy="1444752"/>
          </a:xfrm>
          <a:prstGeom prst="roundRect">
            <a:avLst>
              <a:gd name="adj" fmla="val 8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153144" y="3520440"/>
            <a:ext cx="50292" cy="457200"/>
          </a:xfrm>
          <a:prstGeom prst="roundRect">
            <a:avLst>
              <a:gd name="adj" fmla="val 50000"/>
            </a:avLst>
          </a:prstGeom>
          <a:solidFill>
            <a:srgbClr val="FFC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17736" y="3538728"/>
            <a:ext cx="2185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E"/>
                </a:solidFill>
                <a:latin typeface="Segoe UI Black"/>
              </a:rPr>
              <a:t>Ops + QA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17736" y="4069080"/>
            <a:ext cx="21214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7A9BE"/>
                </a:solidFill>
                <a:latin typeface="Segoe UI"/>
              </a:rPr>
              <a:t>Vercel + Node server, Vitest, k6 load tests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73967" y="3502152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C257"/>
                </a:solidFill>
                <a:latin typeface="Segoe UI"/>
              </a:rPr>
              <a:t>✚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12064" y="5632704"/>
            <a:ext cx="11164824" cy="566928"/>
          </a:xfrm>
          <a:prstGeom prst="roundRect">
            <a:avLst>
              <a:gd name="adj" fmla="val 14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2064" y="5632704"/>
            <a:ext cx="45720" cy="566928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3232" y="570128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C2FF"/>
                </a:solidFill>
                <a:latin typeface="Consolas"/>
              </a:rPr>
              <a:t>CODE — package.json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" y="5920740"/>
            <a:ext cx="10707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7A9BE"/>
                </a:solidFill>
                <a:latin typeface="Consolas"/>
              </a:rPr>
              <a:t>next ^16.3.2   ·   react 19.2.4   ·   prisma ^5.22.0   ·   socket.io ^4.8.3   ·   tailwindcss ^4   ·   typescript 5.9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064" y="6291072"/>
            <a:ext cx="11164824" cy="14630"/>
          </a:xfrm>
          <a:prstGeom prst="rect">
            <a:avLst/>
          </a:prstGeom>
          <a:solidFill>
            <a:srgbClr val="2C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2064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320">
                <a:solidFill>
                  <a:srgbClr val="5A5B7A"/>
                </a:solidFill>
                <a:latin typeface="Segoe UI"/>
              </a:rPr>
              <a:t>ZYNIVERSE × AI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6400800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60">
                <a:solidFill>
                  <a:srgbClr val="5A5B7A"/>
                </a:solidFill>
                <a:latin typeface="Segoe UI"/>
              </a:rPr>
              <a:t>PARTH GUPTA · 2026 · 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737360"/>
            <a:ext cx="4754880" cy="4754880"/>
          </a:xfrm>
          <a:prstGeom prst="ellipse">
            <a:avLst/>
          </a:prstGeom>
          <a:solidFill>
            <a:srgbClr val="7F5AF0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4480560"/>
            <a:ext cx="4206240" cy="4206240"/>
          </a:xfrm>
          <a:prstGeom prst="ellipse">
            <a:avLst/>
          </a:prstGeom>
          <a:solidFill>
            <a:srgbClr val="E5317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-2194560"/>
            <a:ext cx="3108960" cy="3108960"/>
          </a:xfrm>
          <a:prstGeom prst="ellipse">
            <a:avLst/>
          </a:prstGeom>
          <a:solidFill>
            <a:srgbClr val="00C2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3840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53170"/>
                </a:solidFill>
                <a:latin typeface="Segoe UI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8686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C257"/>
                </a:solidFill>
                <a:latin typeface="Segoe UI"/>
              </a:rPr>
              <a:t>✧</a:t>
            </a:r>
          </a:p>
        </p:txBody>
      </p:sp>
      <p:sp>
        <p:nvSpPr>
          <p:cNvPr id="8" name="Oval 7"/>
          <p:cNvSpPr/>
          <p:nvPr/>
        </p:nvSpPr>
        <p:spPr>
          <a:xfrm>
            <a:off x="11539728" y="1042415"/>
            <a:ext cx="82296" cy="82296"/>
          </a:xfrm>
          <a:prstGeom prst="ellipse">
            <a:avLst/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6327648"/>
            <a:ext cx="54864" cy="54864"/>
          </a:xfrm>
          <a:prstGeom prst="ellipse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47548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E"/>
                </a:solidFill>
                <a:latin typeface="Segoe UI Blac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84048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E"/>
                </a:solidFill>
                <a:latin typeface="Segoe UI Black"/>
              </a:rPr>
              <a:t>One Wrapper, Nine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07899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7A9BE"/>
                </a:solidFill>
                <a:latin typeface="Segoe UI"/>
              </a:rPr>
              <a:t>A single battle-tested Gemini pipeline powers every AI surface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517904"/>
            <a:ext cx="1463040" cy="45720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1517904"/>
            <a:ext cx="640080" cy="45720"/>
          </a:xfrm>
          <a:prstGeom prst="rect">
            <a:avLst/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1783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C2FF"/>
                </a:solidFill>
                <a:latin typeface="Segoe UI Black"/>
              </a:rPr>
              <a:t>THE PIPELINE  ➜  src/lib/gemini.ts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2212848"/>
            <a:ext cx="5486400" cy="566928"/>
          </a:xfrm>
          <a:prstGeom prst="roundRect">
            <a:avLst>
              <a:gd name="adj" fmla="val 16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295144"/>
            <a:ext cx="45720" cy="402336"/>
          </a:xfrm>
          <a:prstGeom prst="roundRect">
            <a:avLst>
              <a:gd name="adj" fmla="val 50000"/>
            </a:avLst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2286000"/>
            <a:ext cx="1783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5AF0"/>
                </a:solidFill>
                <a:latin typeface="Consolas"/>
              </a:rPr>
              <a:t>SYSTEM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286000"/>
            <a:ext cx="3246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7A9BE"/>
                </a:solidFill>
                <a:latin typeface="Segoe UI"/>
              </a:rPr>
              <a:t>Role + constraints per feature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" y="2871215"/>
            <a:ext cx="5486400" cy="566928"/>
          </a:xfrm>
          <a:prstGeom prst="roundRect">
            <a:avLst>
              <a:gd name="adj" fmla="val 16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2953511"/>
            <a:ext cx="45720" cy="402336"/>
          </a:xfrm>
          <a:prstGeom prst="roundRect">
            <a:avLst>
              <a:gd name="adj" fmla="val 50000"/>
            </a:avLst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2944368"/>
            <a:ext cx="1783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53170"/>
                </a:solidFill>
                <a:latin typeface="Consolas"/>
              </a:rPr>
              <a:t>QUOTA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944368"/>
            <a:ext cx="3246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7A9BE"/>
                </a:solidFill>
                <a:latin typeface="Segoe UI"/>
              </a:rPr>
              <a:t>AiUsageDaily — 20/user · 1200/day global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" y="3529583"/>
            <a:ext cx="5486400" cy="566928"/>
          </a:xfrm>
          <a:prstGeom prst="roundRect">
            <a:avLst>
              <a:gd name="adj" fmla="val 16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6928" y="3611879"/>
            <a:ext cx="45720" cy="402336"/>
          </a:xfrm>
          <a:prstGeom prst="roundRect">
            <a:avLst>
              <a:gd name="adj" fmla="val 50000"/>
            </a:avLst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602735"/>
            <a:ext cx="1783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C2FF"/>
                </a:solidFill>
                <a:latin typeface="Consolas"/>
              </a:rPr>
              <a:t>CACHE LOOKUP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3602735"/>
            <a:ext cx="3246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7A9BE"/>
                </a:solidFill>
                <a:latin typeface="Segoe UI"/>
              </a:rPr>
              <a:t>SHA-256 key → AiCache hit? return instantly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" y="4187951"/>
            <a:ext cx="5486400" cy="566928"/>
          </a:xfrm>
          <a:prstGeom prst="roundRect">
            <a:avLst>
              <a:gd name="adj" fmla="val 16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4270247"/>
            <a:ext cx="45720" cy="402336"/>
          </a:xfrm>
          <a:prstGeom prst="roundRect">
            <a:avLst>
              <a:gd name="adj" fmla="val 50000"/>
            </a:avLst>
          </a:prstGeom>
          <a:solidFill>
            <a:srgbClr val="FFC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4261103"/>
            <a:ext cx="1783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C257"/>
                </a:solidFill>
                <a:latin typeface="Consolas"/>
              </a:rPr>
              <a:t>geminiGenerate()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4261103"/>
            <a:ext cx="3246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7A9BE"/>
                </a:solidFill>
                <a:latin typeface="Segoe UI"/>
              </a:rPr>
              <a:t>Gemini 2.5 flash · JSON mode · retries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" y="4846319"/>
            <a:ext cx="5486400" cy="566928"/>
          </a:xfrm>
          <a:prstGeom prst="roundRect">
            <a:avLst>
              <a:gd name="adj" fmla="val 16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6928" y="4928615"/>
            <a:ext cx="45720" cy="402336"/>
          </a:xfrm>
          <a:prstGeom prst="roundRect">
            <a:avLst>
              <a:gd name="adj" fmla="val 50000"/>
            </a:avLst>
          </a:prstGeom>
          <a:solidFill>
            <a:srgbClr val="2C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919471"/>
            <a:ext cx="1783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CB67D"/>
                </a:solidFill>
                <a:latin typeface="Consolas"/>
              </a:rPr>
              <a:t>JSON PARSE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4919471"/>
            <a:ext cx="3246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7A9BE"/>
                </a:solidFill>
                <a:latin typeface="Segoe UI"/>
              </a:rPr>
              <a:t>parseGeminiJson with regex fallback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17830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53170"/>
                </a:solidFill>
                <a:latin typeface="Segoe UI Black"/>
              </a:rPr>
              <a:t>WHY IT WORKS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2212848"/>
            <a:ext cx="5321808" cy="932688"/>
          </a:xfrm>
          <a:prstGeom prst="roundRect">
            <a:avLst>
              <a:gd name="adj" fmla="val 12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37960" y="2322576"/>
            <a:ext cx="54864" cy="713232"/>
          </a:xfrm>
          <a:prstGeom prst="roundRect">
            <a:avLst>
              <a:gd name="adj" fmla="val 50000"/>
            </a:avLst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57416" y="232257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E"/>
                </a:solidFill>
                <a:latin typeface="Segoe UI Black"/>
              </a:rPr>
              <a:t>Cost control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7416" y="261518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7A9BE"/>
                </a:solidFill>
                <a:latin typeface="Segoe UI"/>
              </a:rPr>
              <a:t>SHA-256 caching in AiCache + per-user &amp; global daily quotas — Gemini stays affordable at scale.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3236976"/>
            <a:ext cx="5321808" cy="932688"/>
          </a:xfrm>
          <a:prstGeom prst="roundRect">
            <a:avLst>
              <a:gd name="adj" fmla="val 12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37960" y="3346704"/>
            <a:ext cx="54864" cy="713232"/>
          </a:xfrm>
          <a:prstGeom prst="roundRect">
            <a:avLst>
              <a:gd name="adj" fmla="val 50000"/>
            </a:avLst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57416" y="334670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E"/>
                </a:solidFill>
                <a:latin typeface="Segoe UI Black"/>
              </a:rPr>
              <a:t>Resilience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7416" y="363931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7A9BE"/>
                </a:solidFill>
                <a:latin typeface="Segoe UI"/>
              </a:rPr>
              <a:t>Auto-retry on HTTP 429 / 5xx with exponential backoff; empty-response guard.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55080" y="4261104"/>
            <a:ext cx="5321808" cy="932688"/>
          </a:xfrm>
          <a:prstGeom prst="roundRect">
            <a:avLst>
              <a:gd name="adj" fmla="val 12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37960" y="4370832"/>
            <a:ext cx="54864" cy="713232"/>
          </a:xfrm>
          <a:prstGeom prst="roundRect">
            <a:avLst>
              <a:gd name="adj" fmla="val 50000"/>
            </a:avLst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57416" y="437083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E"/>
                </a:solidFill>
                <a:latin typeface="Segoe UI Black"/>
              </a:rPr>
              <a:t>Fast + cheap model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57416" y="46634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7A9BE"/>
                </a:solidFill>
                <a:latin typeface="Segoe UI"/>
              </a:rPr>
              <a:t>gemini-2.5-flash for latency; thinkingBudget: 0 so tokens aren't burned on reasoning.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55080" y="5285232"/>
            <a:ext cx="5321808" cy="932688"/>
          </a:xfrm>
          <a:prstGeom prst="roundRect">
            <a:avLst>
              <a:gd name="adj" fmla="val 12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537960" y="5394960"/>
            <a:ext cx="54864" cy="713232"/>
          </a:xfrm>
          <a:prstGeom prst="roundRect">
            <a:avLst>
              <a:gd name="adj" fmla="val 50000"/>
            </a:avLst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57416" y="53949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E"/>
                </a:solidFill>
                <a:latin typeface="Segoe UI Black"/>
              </a:rPr>
              <a:t>Structured output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57416" y="568756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7A9BE"/>
                </a:solidFill>
                <a:latin typeface="Segoe UI"/>
              </a:rPr>
              <a:t>responseMimeType: application/json + parser that regex-recovers JSON from noisy text.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2064" y="5632704"/>
            <a:ext cx="11164824" cy="566928"/>
          </a:xfrm>
          <a:prstGeom prst="roundRect">
            <a:avLst>
              <a:gd name="adj" fmla="val 14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2064" y="5632704"/>
            <a:ext cx="45720" cy="566928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3232" y="570128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C2FF"/>
                </a:solidFill>
                <a:latin typeface="Consolas"/>
              </a:rPr>
              <a:t>CODE — gemini.ts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" y="5920740"/>
            <a:ext cx="10707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7A9BE"/>
                </a:solidFill>
                <a:latin typeface="Consolas"/>
              </a:rPr>
              <a:t>const PER_USER_DAILY_LIMIT = 20   ·   GLOBAL_DAILY_LIMIT = 1200   ·   thinkingBudget: 0   ·   retry 429 / 5xx · AiCache hit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2064" y="6291072"/>
            <a:ext cx="11164824" cy="14630"/>
          </a:xfrm>
          <a:prstGeom prst="rect">
            <a:avLst/>
          </a:prstGeom>
          <a:solidFill>
            <a:srgbClr val="2C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2064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320">
                <a:solidFill>
                  <a:srgbClr val="5A5B7A"/>
                </a:solidFill>
                <a:latin typeface="Segoe UI"/>
              </a:rPr>
              <a:t>ZYNIVERSE × AI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6400800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60">
                <a:solidFill>
                  <a:srgbClr val="5A5B7A"/>
                </a:solidFill>
                <a:latin typeface="Segoe UI"/>
              </a:rPr>
              <a:t>PARTH GUPTA · 2026 · 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737360"/>
            <a:ext cx="4754880" cy="4754880"/>
          </a:xfrm>
          <a:prstGeom prst="ellipse">
            <a:avLst/>
          </a:prstGeom>
          <a:solidFill>
            <a:srgbClr val="7F5AF0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4480560"/>
            <a:ext cx="4206240" cy="4206240"/>
          </a:xfrm>
          <a:prstGeom prst="ellipse">
            <a:avLst/>
          </a:prstGeom>
          <a:solidFill>
            <a:srgbClr val="E5317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-2194560"/>
            <a:ext cx="3108960" cy="3108960"/>
          </a:xfrm>
          <a:prstGeom prst="ellipse">
            <a:avLst/>
          </a:prstGeom>
          <a:solidFill>
            <a:srgbClr val="00C2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3840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53170"/>
                </a:solidFill>
                <a:latin typeface="Segoe UI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8686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C257"/>
                </a:solidFill>
                <a:latin typeface="Segoe UI"/>
              </a:rPr>
              <a:t>✧</a:t>
            </a:r>
          </a:p>
        </p:txBody>
      </p:sp>
      <p:sp>
        <p:nvSpPr>
          <p:cNvPr id="8" name="Oval 7"/>
          <p:cNvSpPr/>
          <p:nvPr/>
        </p:nvSpPr>
        <p:spPr>
          <a:xfrm>
            <a:off x="11539728" y="1042415"/>
            <a:ext cx="82296" cy="82296"/>
          </a:xfrm>
          <a:prstGeom prst="ellipse">
            <a:avLst/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6327648"/>
            <a:ext cx="54864" cy="54864"/>
          </a:xfrm>
          <a:prstGeom prst="ellipse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47548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E"/>
                </a:solidFill>
                <a:latin typeface="Segoe UI Blac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84048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E"/>
                </a:solidFill>
                <a:latin typeface="Segoe UI Black"/>
              </a:rPr>
              <a:t>Chat &amp; Character Roleplay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07899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7A9BE"/>
                </a:solidFill>
                <a:latin typeface="Segoe UI"/>
              </a:rPr>
              <a:t>Conversational AI that thinks inside the anime universe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517904"/>
            <a:ext cx="1463040" cy="45720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1517904"/>
            <a:ext cx="640080" cy="45720"/>
          </a:xfrm>
          <a:prstGeom prst="rect">
            <a:avLst/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" y="1810512"/>
            <a:ext cx="5440680" cy="3200400"/>
          </a:xfrm>
          <a:prstGeom prst="roundRect">
            <a:avLst>
              <a:gd name="adj" fmla="val 6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064" y="1810512"/>
            <a:ext cx="5440680" cy="566928"/>
          </a:xfrm>
          <a:prstGeom prst="roundRect">
            <a:avLst>
              <a:gd name="adj" fmla="val 6000"/>
            </a:avLst>
          </a:prstGeom>
          <a:solidFill>
            <a:srgbClr val="242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" y="1810512"/>
            <a:ext cx="5440680" cy="45720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✧  </a:t>
            </a:r>
            <a:r>
              <a:rPr sz="1450" b="1">
                <a:solidFill>
                  <a:srgbClr val="FFFFFE"/>
                </a:solidFill>
                <a:latin typeface="Segoe UI Black"/>
              </a:rPr>
              <a:t>Zyni AI — Domain Expert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2606040"/>
            <a:ext cx="54864" cy="54864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2551176"/>
            <a:ext cx="47548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A9BE"/>
                </a:solidFill>
                <a:latin typeface="Segoe UI"/>
              </a:rPr>
              <a:t>Chat with an anime/manga expert that answers with sources &amp; context.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3319272"/>
            <a:ext cx="54864" cy="54864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3264408"/>
            <a:ext cx="47548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A9BE"/>
                </a:solidFill>
                <a:latin typeface="Segoe UI"/>
              </a:rPr>
              <a:t>Each reply can embed up to 4 recommendations, resolved to real AniList titles + images.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" y="4032504"/>
            <a:ext cx="54864" cy="54864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3977640"/>
            <a:ext cx="47548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A9BE"/>
                </a:solidFill>
                <a:latin typeface="Segoe UI"/>
              </a:rPr>
              <a:t>Multi-turn conversation with full history in prompts.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4496" y="1810512"/>
            <a:ext cx="5440680" cy="3200400"/>
          </a:xfrm>
          <a:prstGeom prst="roundRect">
            <a:avLst>
              <a:gd name="adj" fmla="val 6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4496" y="1810512"/>
            <a:ext cx="5440680" cy="566928"/>
          </a:xfrm>
          <a:prstGeom prst="roundRect">
            <a:avLst>
              <a:gd name="adj" fmla="val 6000"/>
            </a:avLst>
          </a:prstGeom>
          <a:solidFill>
            <a:srgbClr val="242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54496" y="1810512"/>
            <a:ext cx="5440680" cy="45720"/>
          </a:xfrm>
          <a:prstGeom prst="rect">
            <a:avLst/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28816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53170"/>
                </a:solidFill>
                <a:latin typeface="Segoe UI"/>
              </a:rPr>
              <a:t>◉  </a:t>
            </a:r>
            <a:r>
              <a:rPr sz="1450" b="1">
                <a:solidFill>
                  <a:srgbClr val="FFFFFE"/>
                </a:solidFill>
                <a:latin typeface="Segoe UI Black"/>
              </a:rPr>
              <a:t>Character Chat — Roleplay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47104" y="2606040"/>
            <a:ext cx="54864" cy="54864"/>
          </a:xfrm>
          <a:prstGeom prst="rect">
            <a:avLst/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11696" y="2551176"/>
            <a:ext cx="47548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A9BE"/>
                </a:solidFill>
                <a:latin typeface="Segoe UI"/>
              </a:rPr>
              <a:t>Talk to your favourite characters — in-character, with their personality &amp; speech style.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47104" y="3319272"/>
            <a:ext cx="54864" cy="54864"/>
          </a:xfrm>
          <a:prstGeom prst="rect">
            <a:avLst/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11696" y="3264408"/>
            <a:ext cx="47548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A9BE"/>
                </a:solidFill>
                <a:latin typeface="Segoe UI"/>
              </a:rPr>
              <a:t>Replies are generated in Hinglish — the perfect tone for Indian anime fans.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47104" y="4032504"/>
            <a:ext cx="54864" cy="54864"/>
          </a:xfrm>
          <a:prstGeom prst="rect">
            <a:avLst/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11696" y="3977640"/>
            <a:ext cx="47548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A9BE"/>
                </a:solidFill>
                <a:latin typeface="Segoe UI"/>
              </a:rPr>
              <a:t>Structured JSON reply → typed card UI with dialogue + reaction.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2064" y="5230368"/>
            <a:ext cx="11164824" cy="384048"/>
          </a:xfrm>
          <a:prstGeom prst="roundRect">
            <a:avLst>
              <a:gd name="adj" fmla="val 50000"/>
            </a:avLst>
          </a:prstGeom>
          <a:solidFill>
            <a:srgbClr val="242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E"/>
                </a:solidFill>
                <a:latin typeface="Segoe UI"/>
              </a:rPr>
              <a:t>EXAMPLE →  User: "kyun main sabke saath binge worthy hoon?"   ·   Zyni AI: "Based on your profile — spend the weekend on this 3 anime lineup: …"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2064" y="5632704"/>
            <a:ext cx="11164824" cy="566928"/>
          </a:xfrm>
          <a:prstGeom prst="roundRect">
            <a:avLst>
              <a:gd name="adj" fmla="val 14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2064" y="5632704"/>
            <a:ext cx="45720" cy="566928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570128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C2FF"/>
                </a:solidFill>
                <a:latin typeface="Consolas"/>
              </a:rPr>
              <a:t>CODE — api/ai/chat/route.ts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5920740"/>
            <a:ext cx="10707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7A9BE"/>
                </a:solidFill>
                <a:latin typeface="Consolas"/>
              </a:rPr>
              <a:t>system: 'you are a world-class anime &amp; manga expert'   ·   reply JSON + up to 4 recommendations   ·   resolve IDs → AniList titles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" y="6291072"/>
            <a:ext cx="11164824" cy="14630"/>
          </a:xfrm>
          <a:prstGeom prst="rect">
            <a:avLst/>
          </a:prstGeom>
          <a:solidFill>
            <a:srgbClr val="2C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320">
                <a:solidFill>
                  <a:srgbClr val="5A5B7A"/>
                </a:solidFill>
                <a:latin typeface="Segoe UI"/>
              </a:rPr>
              <a:t>ZYNIVERSE ×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400800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60">
                <a:solidFill>
                  <a:srgbClr val="5A5B7A"/>
                </a:solidFill>
                <a:latin typeface="Segoe UI"/>
              </a:rPr>
              <a:t>PARTH GUPTA · 2026 · 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737360"/>
            <a:ext cx="4754880" cy="4754880"/>
          </a:xfrm>
          <a:prstGeom prst="ellipse">
            <a:avLst/>
          </a:prstGeom>
          <a:solidFill>
            <a:srgbClr val="7F5AF0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4480560"/>
            <a:ext cx="4206240" cy="4206240"/>
          </a:xfrm>
          <a:prstGeom prst="ellipse">
            <a:avLst/>
          </a:prstGeom>
          <a:solidFill>
            <a:srgbClr val="E5317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-2194560"/>
            <a:ext cx="3108960" cy="3108960"/>
          </a:xfrm>
          <a:prstGeom prst="ellipse">
            <a:avLst/>
          </a:prstGeom>
          <a:solidFill>
            <a:srgbClr val="00C2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3840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53170"/>
                </a:solidFill>
                <a:latin typeface="Segoe UI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8686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C257"/>
                </a:solidFill>
                <a:latin typeface="Segoe UI"/>
              </a:rPr>
              <a:t>✧</a:t>
            </a:r>
          </a:p>
        </p:txBody>
      </p:sp>
      <p:sp>
        <p:nvSpPr>
          <p:cNvPr id="8" name="Oval 7"/>
          <p:cNvSpPr/>
          <p:nvPr/>
        </p:nvSpPr>
        <p:spPr>
          <a:xfrm>
            <a:off x="11539728" y="1042415"/>
            <a:ext cx="82296" cy="82296"/>
          </a:xfrm>
          <a:prstGeom prst="ellipse">
            <a:avLst/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6327648"/>
            <a:ext cx="54864" cy="54864"/>
          </a:xfrm>
          <a:prstGeom prst="ellipse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47548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E"/>
                </a:solidFill>
                <a:latin typeface="Segoe UI Black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84048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E"/>
                </a:solidFill>
                <a:latin typeface="Segoe UI Black"/>
              </a:rPr>
              <a:t>Visual &amp; Semantic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07899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7A9BE"/>
                </a:solidFill>
                <a:latin typeface="Segoe UI"/>
              </a:rPr>
              <a:t>AI that recognises screenshots and understands vibes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517904"/>
            <a:ext cx="1463040" cy="45720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1517904"/>
            <a:ext cx="640080" cy="45720"/>
          </a:xfrm>
          <a:prstGeom prst="rect">
            <a:avLst/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" y="1810512"/>
            <a:ext cx="5440680" cy="3154680"/>
          </a:xfrm>
          <a:prstGeom prst="roundRect">
            <a:avLst>
              <a:gd name="adj" fmla="val 6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064" y="1810512"/>
            <a:ext cx="5440680" cy="548640"/>
          </a:xfrm>
          <a:prstGeom prst="roundRect">
            <a:avLst>
              <a:gd name="adj" fmla="val 6000"/>
            </a:avLst>
          </a:prstGeom>
          <a:solidFill>
            <a:srgbClr val="242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" y="1810512"/>
            <a:ext cx="5440680" cy="45720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F5AF0"/>
                </a:solidFill>
                <a:latin typeface="Segoe UI"/>
              </a:rPr>
              <a:t>❋  </a:t>
            </a:r>
            <a:r>
              <a:rPr sz="1450" b="1">
                <a:solidFill>
                  <a:srgbClr val="FFFFFE"/>
                </a:solidFill>
                <a:latin typeface="Segoe UI Black"/>
              </a:rPr>
              <a:t>Screenshot Identify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2578608"/>
            <a:ext cx="54864" cy="54864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2523744"/>
            <a:ext cx="47548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A9BE"/>
                </a:solidFill>
                <a:latin typeface="Segoe UI"/>
              </a:rPr>
              <a:t>Upload any screenshot → identify the anime instantly.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3346703"/>
            <a:ext cx="54864" cy="54864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3291839"/>
            <a:ext cx="47548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A9BE"/>
                </a:solidFill>
                <a:latin typeface="Segoe UI"/>
              </a:rPr>
              <a:t>Returns title + confidence, guessed episode, and the characters on screen.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" y="4114800"/>
            <a:ext cx="54864" cy="54864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059936"/>
            <a:ext cx="47548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A9BE"/>
                </a:solidFill>
                <a:latin typeface="Segoe UI"/>
              </a:rPr>
              <a:t>Base64 image passed inline to Gemini as a vision input.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4496" y="1810512"/>
            <a:ext cx="5440680" cy="3154680"/>
          </a:xfrm>
          <a:prstGeom prst="roundRect">
            <a:avLst>
              <a:gd name="adj" fmla="val 6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4496" y="1810512"/>
            <a:ext cx="5440680" cy="548640"/>
          </a:xfrm>
          <a:prstGeom prst="roundRect">
            <a:avLst>
              <a:gd name="adj" fmla="val 6000"/>
            </a:avLst>
          </a:prstGeom>
          <a:solidFill>
            <a:srgbClr val="242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54496" y="1810512"/>
            <a:ext cx="5440680" cy="45720"/>
          </a:xfrm>
          <a:prstGeom prst="rect">
            <a:avLst/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28816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53170"/>
                </a:solidFill>
                <a:latin typeface="Segoe UI"/>
              </a:rPr>
              <a:t>☁  </a:t>
            </a:r>
            <a:r>
              <a:rPr sz="1450" b="1">
                <a:solidFill>
                  <a:srgbClr val="FFFFFE"/>
                </a:solidFill>
                <a:latin typeface="Segoe UI Black"/>
              </a:rPr>
              <a:t>Vibe Search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47104" y="2578608"/>
            <a:ext cx="54864" cy="54864"/>
          </a:xfrm>
          <a:prstGeom prst="rect">
            <a:avLst/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11696" y="2523744"/>
            <a:ext cx="47548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A9BE"/>
                </a:solidFill>
                <a:latin typeface="Segoe UI"/>
              </a:rPr>
              <a:t>Natural language moods become playlists: "something chill for 3 a.m."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47104" y="3346703"/>
            <a:ext cx="54864" cy="54864"/>
          </a:xfrm>
          <a:prstGeom prst="rect">
            <a:avLst/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11696" y="3291839"/>
            <a:ext cx="47548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A9BE"/>
                </a:solidFill>
                <a:latin typeface="Segoe UI"/>
              </a:rPr>
              <a:t>LLM maps the vibe → real anime titles via AniList.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47104" y="4114800"/>
            <a:ext cx="54864" cy="54864"/>
          </a:xfrm>
          <a:prstGeom prst="rect">
            <a:avLst/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11696" y="4059936"/>
            <a:ext cx="47548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A9BE"/>
                </a:solidFill>
                <a:latin typeface="Segoe UI"/>
              </a:rPr>
              <a:t>Turns 'I don't know what to watch' into one search box.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2064" y="5193792"/>
            <a:ext cx="11164824" cy="420624"/>
          </a:xfrm>
          <a:prstGeom prst="roundRect">
            <a:avLst>
              <a:gd name="adj" fmla="val 50000"/>
            </a:avLst>
          </a:prstGeom>
          <a:solidFill>
            <a:srgbClr val="242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C2FF"/>
                </a:solidFill>
                <a:latin typeface="Consolas"/>
              </a:rPr>
              <a:t>IDENTIFY →  {"title": "One Piece", "confidence": 0.93, "episode": "1164+, Film: Red", "characters": ["Luffy", "Zoro"]}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2064" y="5632704"/>
            <a:ext cx="11164824" cy="566928"/>
          </a:xfrm>
          <a:prstGeom prst="roundRect">
            <a:avLst>
              <a:gd name="adj" fmla="val 14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2064" y="5632704"/>
            <a:ext cx="45720" cy="566928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570128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C2FF"/>
                </a:solidFill>
                <a:latin typeface="Consolas"/>
              </a:rPr>
              <a:t>CODE — gemini.ts → parseGeminiJson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5920740"/>
            <a:ext cx="10707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7A9BE"/>
                </a:solidFill>
                <a:latin typeface="Consolas"/>
              </a:rPr>
              <a:t>inline_data: { mime_type, base64 }   ·   responseMimeType: application/json   ·   JSON.parse fallback → regex extract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" y="6291072"/>
            <a:ext cx="11164824" cy="14630"/>
          </a:xfrm>
          <a:prstGeom prst="rect">
            <a:avLst/>
          </a:prstGeom>
          <a:solidFill>
            <a:srgbClr val="2C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320">
                <a:solidFill>
                  <a:srgbClr val="5A5B7A"/>
                </a:solidFill>
                <a:latin typeface="Segoe UI"/>
              </a:rPr>
              <a:t>ZYNIVERSE ×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6400800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60">
                <a:solidFill>
                  <a:srgbClr val="5A5B7A"/>
                </a:solidFill>
                <a:latin typeface="Segoe UI"/>
              </a:rPr>
              <a:t>PARTH GUPTA · 2026 · 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737360"/>
            <a:ext cx="4754880" cy="4754880"/>
          </a:xfrm>
          <a:prstGeom prst="ellipse">
            <a:avLst/>
          </a:prstGeom>
          <a:solidFill>
            <a:srgbClr val="7F5AF0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4480560"/>
            <a:ext cx="4206240" cy="4206240"/>
          </a:xfrm>
          <a:prstGeom prst="ellipse">
            <a:avLst/>
          </a:prstGeom>
          <a:solidFill>
            <a:srgbClr val="E5317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-2194560"/>
            <a:ext cx="3108960" cy="3108960"/>
          </a:xfrm>
          <a:prstGeom prst="ellipse">
            <a:avLst/>
          </a:prstGeom>
          <a:solidFill>
            <a:srgbClr val="00C2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3840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53170"/>
                </a:solidFill>
                <a:latin typeface="Segoe UI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8686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C257"/>
                </a:solidFill>
                <a:latin typeface="Segoe UI"/>
              </a:rPr>
              <a:t>✧</a:t>
            </a:r>
          </a:p>
        </p:txBody>
      </p:sp>
      <p:sp>
        <p:nvSpPr>
          <p:cNvPr id="8" name="Oval 7"/>
          <p:cNvSpPr/>
          <p:nvPr/>
        </p:nvSpPr>
        <p:spPr>
          <a:xfrm>
            <a:off x="11539728" y="1042415"/>
            <a:ext cx="82296" cy="82296"/>
          </a:xfrm>
          <a:prstGeom prst="ellipse">
            <a:avLst/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6327648"/>
            <a:ext cx="54864" cy="54864"/>
          </a:xfrm>
          <a:prstGeom prst="ellipse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47548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E"/>
                </a:solidFill>
                <a:latin typeface="Segoe UI Black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84048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E"/>
                </a:solidFill>
                <a:latin typeface="Segoe UI Black"/>
              </a:rPr>
              <a:t>Shared Watching + Social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07899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7A9BE"/>
                </a:solidFill>
                <a:latin typeface="Segoe UI"/>
              </a:rPr>
              <a:t>Planning, co-watching and debate — all inside one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517904"/>
            <a:ext cx="1463040" cy="45720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1517904"/>
            <a:ext cx="640080" cy="45720"/>
          </a:xfrm>
          <a:prstGeom prst="rect">
            <a:avLst/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" y="1783080"/>
            <a:ext cx="5440680" cy="1645920"/>
          </a:xfrm>
          <a:prstGeom prst="roundRect">
            <a:avLst>
              <a:gd name="adj" fmla="val 7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4944" y="1965960"/>
            <a:ext cx="54864" cy="475488"/>
          </a:xfrm>
          <a:prstGeom prst="roundRect">
            <a:avLst>
              <a:gd name="adj" fmla="val 50000"/>
            </a:avLst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9476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F5AF0"/>
                </a:solidFill>
                <a:latin typeface="Segoe UI"/>
              </a:rPr>
              <a:t>☾  </a:t>
            </a:r>
            <a:r>
              <a:rPr sz="1400" b="1">
                <a:solidFill>
                  <a:srgbClr val="FFFFFE"/>
                </a:solidFill>
                <a:latin typeface="Segoe UI Black"/>
              </a:rPr>
              <a:t>Night Planner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350008"/>
            <a:ext cx="4800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A9BE"/>
                </a:solidFill>
                <a:latin typeface="Segoe UI"/>
              </a:rPr>
              <a:t>Blends every friend's taste into a themed lineup of anime, snacks &amp; trivia — then auto-creates the watch party.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1783080"/>
            <a:ext cx="5440680" cy="1645920"/>
          </a:xfrm>
          <a:prstGeom prst="roundRect">
            <a:avLst>
              <a:gd name="adj" fmla="val 7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37376" y="1965960"/>
            <a:ext cx="54864" cy="475488"/>
          </a:xfrm>
          <a:prstGeom prst="roundRect">
            <a:avLst>
              <a:gd name="adj" fmla="val 50000"/>
            </a:avLst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19476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C2FF"/>
                </a:solidFill>
                <a:latin typeface="Segoe UI"/>
              </a:rPr>
              <a:t>▶  </a:t>
            </a:r>
            <a:r>
              <a:rPr sz="1400" b="1">
                <a:solidFill>
                  <a:srgbClr val="FFFFFE"/>
                </a:solidFill>
                <a:latin typeface="Segoe UI Black"/>
              </a:rPr>
              <a:t>Watch Parties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2350008"/>
            <a:ext cx="4800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A9BE"/>
                </a:solidFill>
                <a:latin typeface="Segoe UI"/>
              </a:rPr>
              <a:t>Socket.io co-viewing: play / pause / seek sync, WebRTC voice chat + screen-share, HLS playback.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" y="3566160"/>
            <a:ext cx="5440680" cy="1645920"/>
          </a:xfrm>
          <a:prstGeom prst="roundRect">
            <a:avLst>
              <a:gd name="adj" fmla="val 7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3749039"/>
            <a:ext cx="54864" cy="475488"/>
          </a:xfrm>
          <a:prstGeom prst="roundRect">
            <a:avLst>
              <a:gd name="adj" fmla="val 50000"/>
            </a:avLst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73075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53170"/>
                </a:solidFill>
                <a:latin typeface="Segoe UI"/>
              </a:rPr>
              <a:t>★  </a:t>
            </a:r>
            <a:r>
              <a:rPr sz="1400" b="1">
                <a:solidFill>
                  <a:srgbClr val="FFFFFE"/>
                </a:solidFill>
                <a:latin typeface="Segoe UI Black"/>
              </a:rPr>
              <a:t>Character Tournaments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133087"/>
            <a:ext cx="4800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A9BE"/>
                </a:solidFill>
                <a:latin typeface="Segoe UI"/>
              </a:rPr>
              <a:t>Crowd-ranked character battles, polls and Zyni Awards — community votes drive the results.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4496" y="3566160"/>
            <a:ext cx="5440680" cy="1645920"/>
          </a:xfrm>
          <a:prstGeom prst="roundRect">
            <a:avLst>
              <a:gd name="adj" fmla="val 7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37376" y="3749039"/>
            <a:ext cx="54864" cy="475488"/>
          </a:xfrm>
          <a:prstGeom prst="roundRect">
            <a:avLst>
              <a:gd name="adj" fmla="val 50000"/>
            </a:avLst>
          </a:prstGeom>
          <a:solidFill>
            <a:srgbClr val="FFC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373075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C257"/>
                </a:solidFill>
                <a:latin typeface="Segoe UI"/>
              </a:rPr>
              <a:t>⚡  </a:t>
            </a:r>
            <a:r>
              <a:rPr sz="1400" b="1">
                <a:solidFill>
                  <a:srgbClr val="FFFFFE"/>
                </a:solidFill>
                <a:latin typeface="Segoe UI Black"/>
              </a:rPr>
              <a:t>AI Lab — Fan Theories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4133087"/>
            <a:ext cx="4800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A9BE"/>
                </a:solidFill>
                <a:latin typeface="Segoe UI"/>
              </a:rPr>
              <a:t>AI generates theories per anime; the fandom agrees or disagrees — theories become content.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" y="5230368"/>
            <a:ext cx="11164824" cy="365760"/>
          </a:xfrm>
          <a:prstGeom prst="roundRect">
            <a:avLst>
              <a:gd name="adj" fmla="val 50000"/>
            </a:avLst>
          </a:prstGeom>
          <a:solidFill>
            <a:srgbClr val="242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E"/>
                </a:solidFill>
                <a:latin typeface="Segoe UI"/>
              </a:rPr>
              <a:t>EXAMPLE →  "Sunday Funday" — friends' tastes fused → Jujutsu Kaisen marath + momos + trivia → watch-party room live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" y="5632704"/>
            <a:ext cx="11164824" cy="566928"/>
          </a:xfrm>
          <a:prstGeom prst="roundRect">
            <a:avLst>
              <a:gd name="adj" fmla="val 14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2064" y="5632704"/>
            <a:ext cx="45720" cy="566928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70128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C2FF"/>
                </a:solidFill>
                <a:latin typeface="Consolas"/>
              </a:rPr>
              <a:t>CODE — watch-party.ts + ai/night-gen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920740"/>
            <a:ext cx="10707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7A9BE"/>
                </a:solidFill>
                <a:latin typeface="Consolas"/>
              </a:rPr>
              <a:t>Socket.io: play/pause/seek sync   ·   WebRTC voice + screen-share   ·   night-gen() → createParty()   ·   tournament polls → ranked results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" y="6291072"/>
            <a:ext cx="11164824" cy="14630"/>
          </a:xfrm>
          <a:prstGeom prst="rect">
            <a:avLst/>
          </a:prstGeom>
          <a:solidFill>
            <a:srgbClr val="2C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320">
                <a:solidFill>
                  <a:srgbClr val="5A5B7A"/>
                </a:solidFill>
                <a:latin typeface="Segoe UI"/>
              </a:rPr>
              <a:t>ZYNIVERSE ×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6400800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60">
                <a:solidFill>
                  <a:srgbClr val="5A5B7A"/>
                </a:solidFill>
                <a:latin typeface="Segoe UI"/>
              </a:rPr>
              <a:t>PARTH GUPTA · 2026 · 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737360"/>
            <a:ext cx="4754880" cy="4754880"/>
          </a:xfrm>
          <a:prstGeom prst="ellipse">
            <a:avLst/>
          </a:prstGeom>
          <a:solidFill>
            <a:srgbClr val="7F5AF0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4480560"/>
            <a:ext cx="4206240" cy="4206240"/>
          </a:xfrm>
          <a:prstGeom prst="ellipse">
            <a:avLst/>
          </a:prstGeom>
          <a:solidFill>
            <a:srgbClr val="E5317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-2194560"/>
            <a:ext cx="3108960" cy="3108960"/>
          </a:xfrm>
          <a:prstGeom prst="ellipse">
            <a:avLst/>
          </a:prstGeom>
          <a:solidFill>
            <a:srgbClr val="00C2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3840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53170"/>
                </a:solidFill>
                <a:latin typeface="Segoe UI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8686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C257"/>
                </a:solidFill>
                <a:latin typeface="Segoe UI"/>
              </a:rPr>
              <a:t>✧</a:t>
            </a:r>
          </a:p>
        </p:txBody>
      </p:sp>
      <p:sp>
        <p:nvSpPr>
          <p:cNvPr id="8" name="Oval 7"/>
          <p:cNvSpPr/>
          <p:nvPr/>
        </p:nvSpPr>
        <p:spPr>
          <a:xfrm>
            <a:off x="11539728" y="1042415"/>
            <a:ext cx="82296" cy="82296"/>
          </a:xfrm>
          <a:prstGeom prst="ellipse">
            <a:avLst/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6327648"/>
            <a:ext cx="54864" cy="54864"/>
          </a:xfrm>
          <a:prstGeom prst="ellipse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47548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E"/>
                </a:solidFill>
                <a:latin typeface="Segoe UI Black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84048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E"/>
                </a:solidFill>
                <a:latin typeface="Segoe UI Black"/>
              </a:rPr>
              <a:t>Practical AI + Content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07899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7A9BE"/>
                </a:solidFill>
                <a:latin typeface="Segoe UI"/>
              </a:rPr>
              <a:t>Filler that skips itself, reels and manga that build themselves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517904"/>
            <a:ext cx="1463040" cy="45720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1517904"/>
            <a:ext cx="640080" cy="45720"/>
          </a:xfrm>
          <a:prstGeom prst="rect">
            <a:avLst/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" y="1783080"/>
            <a:ext cx="5440680" cy="1645920"/>
          </a:xfrm>
          <a:prstGeom prst="roundRect">
            <a:avLst>
              <a:gd name="adj" fmla="val 7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4944" y="1965960"/>
            <a:ext cx="54864" cy="475488"/>
          </a:xfrm>
          <a:prstGeom prst="roundRect">
            <a:avLst>
              <a:gd name="adj" fmla="val 50000"/>
            </a:avLst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9476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C2FF"/>
                </a:solidFill>
                <a:latin typeface="Segoe UI"/>
              </a:rPr>
              <a:t>▸  </a:t>
            </a:r>
            <a:r>
              <a:rPr sz="1400" b="1">
                <a:solidFill>
                  <a:srgbClr val="FFFFFE"/>
                </a:solidFill>
                <a:latin typeface="Segoe UI Black"/>
              </a:rPr>
              <a:t>Skip Filler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350008"/>
            <a:ext cx="4800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A9BE"/>
                </a:solidFill>
                <a:latin typeface="Segoe UI"/>
              </a:rPr>
              <a:t>AI summarises the filler episode so you skip it guilt-free — plus crowd-voted filler list and 200 guides.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1783080"/>
            <a:ext cx="5440680" cy="1645920"/>
          </a:xfrm>
          <a:prstGeom prst="roundRect">
            <a:avLst>
              <a:gd name="adj" fmla="val 7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37376" y="1965960"/>
            <a:ext cx="54864" cy="475488"/>
          </a:xfrm>
          <a:prstGeom prst="roundRect">
            <a:avLst>
              <a:gd name="adj" fmla="val 50000"/>
            </a:avLst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19476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F5AF0"/>
                </a:solidFill>
                <a:latin typeface="Segoe UI"/>
              </a:rPr>
              <a:t>⌕  </a:t>
            </a:r>
            <a:r>
              <a:rPr sz="1400" b="1">
                <a:solidFill>
                  <a:srgbClr val="FFFFFE"/>
                </a:solidFill>
                <a:latin typeface="Segoe UI Black"/>
              </a:rPr>
              <a:t>AI Search + Mixer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2350008"/>
            <a:ext cx="4800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A9BE"/>
                </a:solidFill>
                <a:latin typeface="Segoe UI"/>
              </a:rPr>
              <a:t>Natural questions + semantic intents layered over the AniList index — 'My Hero Academia but space horror' mixes.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" y="3566160"/>
            <a:ext cx="5440680" cy="1645920"/>
          </a:xfrm>
          <a:prstGeom prst="roundRect">
            <a:avLst>
              <a:gd name="adj" fmla="val 7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3749039"/>
            <a:ext cx="54864" cy="475488"/>
          </a:xfrm>
          <a:prstGeom prst="roundRect">
            <a:avLst>
              <a:gd name="adj" fmla="val 50000"/>
            </a:avLst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73075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53170"/>
                </a:solidFill>
                <a:latin typeface="Segoe UI"/>
              </a:rPr>
              <a:t>✍  </a:t>
            </a:r>
            <a:r>
              <a:rPr sz="1400" b="1">
                <a:solidFill>
                  <a:srgbClr val="FFFFFE"/>
                </a:solidFill>
                <a:latin typeface="Segoe UI Black"/>
              </a:rPr>
              <a:t>Hinglish Reels Generator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133087"/>
            <a:ext cx="4800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A9BE"/>
                </a:solidFill>
                <a:latin typeface="Segoe UI"/>
              </a:rPr>
              <a:t>ffmpeg + impact font + sharp render Hinglish meme reels automatically from source clips (scripts/make-reels.mjs).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4496" y="3566160"/>
            <a:ext cx="5440680" cy="1645920"/>
          </a:xfrm>
          <a:prstGeom prst="roundRect">
            <a:avLst>
              <a:gd name="adj" fmla="val 7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37376" y="3749039"/>
            <a:ext cx="54864" cy="475488"/>
          </a:xfrm>
          <a:prstGeom prst="roundRect">
            <a:avLst>
              <a:gd name="adj" fmla="val 50000"/>
            </a:avLst>
          </a:prstGeom>
          <a:solidFill>
            <a:srgbClr val="FFC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373075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C257"/>
                </a:solidFill>
                <a:latin typeface="Segoe UI"/>
              </a:rPr>
              <a:t>▣  </a:t>
            </a:r>
            <a:r>
              <a:rPr sz="1400" b="1">
                <a:solidFill>
                  <a:srgbClr val="FFFFFE"/>
                </a:solidFill>
                <a:latin typeface="Segoe UI Black"/>
              </a:rPr>
              <a:t>In-app Manga Reader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4133087"/>
            <a:ext cx="4800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A9BE"/>
                </a:solidFill>
                <a:latin typeface="Segoe UI"/>
              </a:rPr>
              <a:t>Read chapters right in the browser — chapter browser, progress tracking, doujinshi &amp; light-novel support.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" y="5230368"/>
            <a:ext cx="11164824" cy="365760"/>
          </a:xfrm>
          <a:prstGeom prst="roundRect">
            <a:avLst>
              <a:gd name="adj" fmla="val 50000"/>
            </a:avLst>
          </a:prstGeom>
          <a:solidFill>
            <a:srgbClr val="242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C2FF"/>
                </a:solidFill>
                <a:latin typeface="Consolas"/>
              </a:rPr>
              <a:t>PATTERN →  content tooling + AI share one stack: import scripts → ffmpeg/typed endpoints → quota → cache → typed UI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" y="5632704"/>
            <a:ext cx="11164824" cy="566928"/>
          </a:xfrm>
          <a:prstGeom prst="roundRect">
            <a:avLst>
              <a:gd name="adj" fmla="val 14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2064" y="5632704"/>
            <a:ext cx="45720" cy="566928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70128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C2FF"/>
                </a:solidFill>
                <a:latin typeface="Consolas"/>
              </a:rPr>
              <a:t>CODE — scripts/make-reels.mjs + manga-reader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920740"/>
            <a:ext cx="10707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A7A9BE"/>
                </a:solidFill>
                <a:latin typeface="Consolas"/>
              </a:rPr>
              <a:t>ffmpeg-static + impact font → Hinglish reels   ·   filler votes + guides   ·   chapter browser with progress sync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" y="6291072"/>
            <a:ext cx="11164824" cy="14630"/>
          </a:xfrm>
          <a:prstGeom prst="rect">
            <a:avLst/>
          </a:prstGeom>
          <a:solidFill>
            <a:srgbClr val="2C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320">
                <a:solidFill>
                  <a:srgbClr val="5A5B7A"/>
                </a:solidFill>
                <a:latin typeface="Segoe UI"/>
              </a:rPr>
              <a:t>ZYNIVERSE ×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6400800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60">
                <a:solidFill>
                  <a:srgbClr val="5A5B7A"/>
                </a:solidFill>
                <a:latin typeface="Segoe UI"/>
              </a:rPr>
              <a:t>PARTH GUPTA · 2026 · 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737360"/>
            <a:ext cx="4754880" cy="4754880"/>
          </a:xfrm>
          <a:prstGeom prst="ellipse">
            <a:avLst/>
          </a:prstGeom>
          <a:solidFill>
            <a:srgbClr val="7F5AF0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4480560"/>
            <a:ext cx="4206240" cy="4206240"/>
          </a:xfrm>
          <a:prstGeom prst="ellipse">
            <a:avLst/>
          </a:prstGeom>
          <a:solidFill>
            <a:srgbClr val="E5317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-2194560"/>
            <a:ext cx="3108960" cy="3108960"/>
          </a:xfrm>
          <a:prstGeom prst="ellipse">
            <a:avLst/>
          </a:prstGeom>
          <a:solidFill>
            <a:srgbClr val="00C2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3840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53170"/>
                </a:solidFill>
                <a:latin typeface="Segoe UI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8686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C257"/>
                </a:solidFill>
                <a:latin typeface="Segoe UI"/>
              </a:rPr>
              <a:t>✧</a:t>
            </a:r>
          </a:p>
        </p:txBody>
      </p:sp>
      <p:sp>
        <p:nvSpPr>
          <p:cNvPr id="8" name="Oval 7"/>
          <p:cNvSpPr/>
          <p:nvPr/>
        </p:nvSpPr>
        <p:spPr>
          <a:xfrm>
            <a:off x="11539728" y="1042415"/>
            <a:ext cx="82296" cy="82296"/>
          </a:xfrm>
          <a:prstGeom prst="ellipse">
            <a:avLst/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6327648"/>
            <a:ext cx="54864" cy="54864"/>
          </a:xfrm>
          <a:prstGeom prst="ellipse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47548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E"/>
                </a:solidFill>
                <a:latin typeface="Segoe UI Black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84048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E"/>
                </a:solidFill>
                <a:latin typeface="Segoe UI Black"/>
              </a:rPr>
              <a:t>The AI That Doesn't Need the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07899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7A9BE"/>
                </a:solidFill>
                <a:latin typeface="Segoe UI"/>
              </a:rPr>
              <a:t>Behavioral recommendation engine — src/lib/ai-recommender.ts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517904"/>
            <a:ext cx="1463040" cy="45720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1517904"/>
            <a:ext cx="640080" cy="45720"/>
          </a:xfrm>
          <a:prstGeom prst="rect">
            <a:avLst/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1783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C2FF"/>
                </a:solidFill>
                <a:latin typeface="Segoe UI Black"/>
              </a:rPr>
              <a:t>HOW IT SCORES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2212848"/>
            <a:ext cx="5760720" cy="566928"/>
          </a:xfrm>
          <a:prstGeom prst="roundRect">
            <a:avLst>
              <a:gd name="adj" fmla="val 14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295144"/>
            <a:ext cx="45720" cy="402336"/>
          </a:xfrm>
          <a:prstGeom prst="roundRect">
            <a:avLst>
              <a:gd name="adj" fmla="val 50000"/>
            </a:avLst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2276856"/>
            <a:ext cx="2103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C2FF"/>
                </a:solidFill>
                <a:latin typeface="Consolas"/>
              </a:rPr>
              <a:t>Profile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267712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7A9BE"/>
                </a:solidFill>
                <a:latin typeface="Segoe UI"/>
              </a:rPr>
              <a:t>Last 30 days of UserActivity → genres, viewed IDs, searches.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" y="2871215"/>
            <a:ext cx="5760720" cy="566928"/>
          </a:xfrm>
          <a:prstGeom prst="roundRect">
            <a:avLst>
              <a:gd name="adj" fmla="val 14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2953511"/>
            <a:ext cx="45720" cy="402336"/>
          </a:xfrm>
          <a:prstGeom prst="roundRect">
            <a:avLst>
              <a:gd name="adj" fmla="val 50000"/>
            </a:avLst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2935223"/>
            <a:ext cx="2103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C2FF"/>
                </a:solidFill>
                <a:latin typeface="Consolas"/>
              </a:rPr>
              <a:t>Cold-start seed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2926079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7A9BE"/>
                </a:solidFill>
                <a:latin typeface="Segoe UI"/>
              </a:rPr>
              <a:t>New users get taste seeded from onboarding favoriteGenres.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" y="3529583"/>
            <a:ext cx="5760720" cy="566928"/>
          </a:xfrm>
          <a:prstGeom prst="roundRect">
            <a:avLst>
              <a:gd name="adj" fmla="val 14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6928" y="3611879"/>
            <a:ext cx="45720" cy="402336"/>
          </a:xfrm>
          <a:prstGeom prst="roundRect">
            <a:avLst>
              <a:gd name="adj" fmla="val 50000"/>
            </a:avLst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593591"/>
            <a:ext cx="2103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C2FF"/>
                </a:solidFill>
                <a:latin typeface="Consolas"/>
              </a:rPr>
              <a:t>Signal weighting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358444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7A9BE"/>
                </a:solidFill>
                <a:latin typeface="Segoe UI"/>
              </a:rPr>
              <a:t>Actions carry weight: view=3, add-to-list=5, click-rec=4, search=2…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" y="4187951"/>
            <a:ext cx="5760720" cy="566928"/>
          </a:xfrm>
          <a:prstGeom prst="roundRect">
            <a:avLst>
              <a:gd name="adj" fmla="val 14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4270247"/>
            <a:ext cx="45720" cy="402336"/>
          </a:xfrm>
          <a:prstGeom prst="roundRect">
            <a:avLst>
              <a:gd name="adj" fmla="val 50000"/>
            </a:avLst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4251959"/>
            <a:ext cx="2103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C2FF"/>
                </a:solidFill>
                <a:latin typeface="Consolas"/>
              </a:rPr>
              <a:t>Time decay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4242815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7A9BE"/>
                </a:solidFill>
                <a:latin typeface="Segoe UI"/>
              </a:rPr>
              <a:t>Older events shrink — score ∝ recency (1 − days/30, floor 0.1).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" y="4846319"/>
            <a:ext cx="5760720" cy="566928"/>
          </a:xfrm>
          <a:prstGeom prst="roundRect">
            <a:avLst>
              <a:gd name="adj" fmla="val 14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6928" y="4928615"/>
            <a:ext cx="45720" cy="402336"/>
          </a:xfrm>
          <a:prstGeom prst="roundRect">
            <a:avLst>
              <a:gd name="adj" fmla="val 50000"/>
            </a:avLst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910327"/>
            <a:ext cx="2103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C2FF"/>
                </a:solidFill>
                <a:latin typeface="Consolas"/>
              </a:rPr>
              <a:t>Rank — recs + Wrapped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490118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7A9BE"/>
                </a:solidFill>
                <a:latin typeface="Segoe UI"/>
              </a:rPr>
              <a:t>Scored recs with reasons; feeds 'My Year in Anime' recap + streaks.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53170"/>
                </a:solidFill>
                <a:latin typeface="Segoe UI Black"/>
              </a:rPr>
              <a:t>ACTION WEIGHTS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37960" y="2212848"/>
            <a:ext cx="5138928" cy="457200"/>
          </a:xfrm>
          <a:prstGeom prst="roundRect">
            <a:avLst>
              <a:gd name="adj" fmla="val 20000"/>
            </a:avLst>
          </a:prstGeom>
          <a:solidFill>
            <a:srgbClr val="242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2280" y="2212848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50">
                <a:solidFill>
                  <a:srgbClr val="FFFFFE"/>
                </a:solidFill>
                <a:latin typeface="Consolas"/>
              </a:rPr>
              <a:t>SIGNAL — USER ACTIVITY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2212848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50">
                <a:solidFill>
                  <a:srgbClr val="FFFFFE"/>
                </a:solidFill>
                <a:latin typeface="Consolas"/>
              </a:rPr>
              <a:t>WT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37960" y="2706624"/>
            <a:ext cx="5138928" cy="420624"/>
          </a:xfrm>
          <a:prstGeom prst="roundRect">
            <a:avLst>
              <a:gd name="adj" fmla="val 20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12280" y="2706624"/>
            <a:ext cx="3840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A9BE"/>
                </a:solidFill>
                <a:latin typeface="Consolas"/>
              </a:rPr>
              <a:t>view_anime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69880" y="2706624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C257"/>
                </a:solidFill>
                <a:latin typeface="Consolas"/>
              </a:rPr>
              <a:t>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37960" y="3163824"/>
            <a:ext cx="5138928" cy="420624"/>
          </a:xfrm>
          <a:prstGeom prst="roundRect">
            <a:avLst>
              <a:gd name="adj" fmla="val 20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12280" y="3163824"/>
            <a:ext cx="3840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A9BE"/>
                </a:solidFill>
                <a:latin typeface="Consolas"/>
              </a:rPr>
              <a:t>add_to_list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69880" y="3163824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C257"/>
                </a:solidFill>
                <a:latin typeface="Consolas"/>
              </a:rPr>
              <a:t>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37960" y="3621024"/>
            <a:ext cx="5138928" cy="420624"/>
          </a:xfrm>
          <a:prstGeom prst="roundRect">
            <a:avLst>
              <a:gd name="adj" fmla="val 20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12280" y="3621024"/>
            <a:ext cx="3840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A9BE"/>
                </a:solidFill>
                <a:latin typeface="Consolas"/>
              </a:rPr>
              <a:t>click_recommendation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69880" y="3621024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C257"/>
                </a:solidFill>
                <a:latin typeface="Consolas"/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37960" y="4078224"/>
            <a:ext cx="5138928" cy="420624"/>
          </a:xfrm>
          <a:prstGeom prst="roundRect">
            <a:avLst>
              <a:gd name="adj" fmla="val 20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4078224"/>
            <a:ext cx="3840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A9BE"/>
                </a:solidFill>
                <a:latin typeface="Consolas"/>
              </a:rPr>
              <a:t>search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69880" y="4078224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C257"/>
                </a:solidFill>
                <a:latin typeface="Consolas"/>
              </a:rPr>
              <a:t>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37960" y="4535424"/>
            <a:ext cx="5138928" cy="420624"/>
          </a:xfrm>
          <a:prstGeom prst="roundRect">
            <a:avLst>
              <a:gd name="adj" fmla="val 20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12280" y="4535424"/>
            <a:ext cx="3840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A9BE"/>
                </a:solidFill>
                <a:latin typeface="Consolas"/>
              </a:rPr>
              <a:t>view_filler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69880" y="4535424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C257"/>
                </a:solidFill>
                <a:latin typeface="Consolas"/>
              </a:rPr>
              <a:t>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37960" y="4992624"/>
            <a:ext cx="5138928" cy="420624"/>
          </a:xfrm>
          <a:prstGeom prst="roundRect">
            <a:avLst>
              <a:gd name="adj" fmla="val 20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12280" y="4992624"/>
            <a:ext cx="3840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A9BE"/>
                </a:solidFill>
                <a:latin typeface="Consolas"/>
              </a:rPr>
              <a:t>view_character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69880" y="4992624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C257"/>
                </a:solidFill>
                <a:latin typeface="Consolas"/>
              </a:rPr>
              <a:t>1.5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12064" y="5632704"/>
            <a:ext cx="11164824" cy="566928"/>
          </a:xfrm>
          <a:prstGeom prst="roundRect">
            <a:avLst>
              <a:gd name="adj" fmla="val 14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2064" y="5632704"/>
            <a:ext cx="45720" cy="566928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570128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C2FF"/>
                </a:solidFill>
                <a:latin typeface="Consolas"/>
              </a:rPr>
              <a:t>CODE — ai-recommender.ts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5920740"/>
            <a:ext cx="10707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7A9BE"/>
                </a:solidFill>
                <a:latin typeface="Consolas"/>
              </a:rPr>
              <a:t>Decay = max(0.1, 1 − days/30)   ·   genre weights seeded at onboarding   ·   rank = genre · search · similarity   ·   → recs + My-Year-in-Anime recap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2064" y="6291072"/>
            <a:ext cx="11164824" cy="14630"/>
          </a:xfrm>
          <a:prstGeom prst="rect">
            <a:avLst/>
          </a:prstGeom>
          <a:solidFill>
            <a:srgbClr val="2C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2064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320">
                <a:solidFill>
                  <a:srgbClr val="5A5B7A"/>
                </a:solidFill>
                <a:latin typeface="Segoe UI"/>
              </a:rPr>
              <a:t>ZYNIVERSE × AI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0" y="6400800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60">
                <a:solidFill>
                  <a:srgbClr val="5A5B7A"/>
                </a:solidFill>
                <a:latin typeface="Segoe UI"/>
              </a:rPr>
              <a:t>PARTH GUPTA · 2026 ·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737360"/>
            <a:ext cx="4754880" cy="4754880"/>
          </a:xfrm>
          <a:prstGeom prst="ellipse">
            <a:avLst/>
          </a:prstGeom>
          <a:solidFill>
            <a:srgbClr val="7F5AF0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4480560"/>
            <a:ext cx="4206240" cy="4206240"/>
          </a:xfrm>
          <a:prstGeom prst="ellipse">
            <a:avLst/>
          </a:prstGeom>
          <a:solidFill>
            <a:srgbClr val="E5317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-2194560"/>
            <a:ext cx="3108960" cy="3108960"/>
          </a:xfrm>
          <a:prstGeom prst="ellipse">
            <a:avLst/>
          </a:prstGeom>
          <a:solidFill>
            <a:srgbClr val="00C2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3840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53170"/>
                </a:solidFill>
                <a:latin typeface="Segoe UI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8686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C257"/>
                </a:solidFill>
                <a:latin typeface="Segoe UI"/>
              </a:rPr>
              <a:t>✧</a:t>
            </a:r>
          </a:p>
        </p:txBody>
      </p:sp>
      <p:sp>
        <p:nvSpPr>
          <p:cNvPr id="8" name="Oval 7"/>
          <p:cNvSpPr/>
          <p:nvPr/>
        </p:nvSpPr>
        <p:spPr>
          <a:xfrm>
            <a:off x="11539728" y="1042415"/>
            <a:ext cx="82296" cy="82296"/>
          </a:xfrm>
          <a:prstGeom prst="ellipse">
            <a:avLst/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6327648"/>
            <a:ext cx="54864" cy="54864"/>
          </a:xfrm>
          <a:prstGeom prst="ellipse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47548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E"/>
                </a:solidFill>
                <a:latin typeface="Segoe UI Black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84048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E"/>
                </a:solidFill>
                <a:latin typeface="Segoe UI Black"/>
              </a:rPr>
              <a:t>The Ecosystem Nobody Else 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07899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7A9BE"/>
                </a:solidFill>
                <a:latin typeface="Segoe UI"/>
              </a:rPr>
              <a:t>Software that lives where the fans already 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517904"/>
            <a:ext cx="1463040" cy="45720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1517904"/>
            <a:ext cx="640080" cy="45720"/>
          </a:xfrm>
          <a:prstGeom prst="rect">
            <a:avLst/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" y="1783080"/>
            <a:ext cx="5440680" cy="1645920"/>
          </a:xfrm>
          <a:prstGeom prst="roundRect">
            <a:avLst>
              <a:gd name="adj" fmla="val 7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4944" y="1965960"/>
            <a:ext cx="54864" cy="475488"/>
          </a:xfrm>
          <a:prstGeom prst="roundRect">
            <a:avLst>
              <a:gd name="adj" fmla="val 50000"/>
            </a:avLst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9476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F5AF0"/>
                </a:solidFill>
                <a:latin typeface="Segoe UI"/>
              </a:rPr>
              <a:t>✦  </a:t>
            </a:r>
            <a:r>
              <a:rPr sz="1400" b="1">
                <a:solidFill>
                  <a:srgbClr val="FFFFFE"/>
                </a:solidFill>
                <a:latin typeface="Segoe UI Black"/>
              </a:rPr>
              <a:t>Chrome Extension (MV3)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350008"/>
            <a:ext cx="4800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A9BE"/>
                </a:solidFill>
                <a:latin typeface="Segoe UI"/>
              </a:rPr>
              <a:t>Filler % + Indian-dub badge injected right on MAL / AniList / Anime-Planet; right-click → 'Search on ZyniVerse'.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1783080"/>
            <a:ext cx="5440680" cy="1645920"/>
          </a:xfrm>
          <a:prstGeom prst="roundRect">
            <a:avLst>
              <a:gd name="adj" fmla="val 7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37376" y="1965960"/>
            <a:ext cx="54864" cy="475488"/>
          </a:xfrm>
          <a:prstGeom prst="roundRect">
            <a:avLst>
              <a:gd name="adj" fmla="val 50000"/>
            </a:avLst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19476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C2FF"/>
                </a:solidFill>
                <a:latin typeface="Segoe UI"/>
              </a:rPr>
              <a:t>▣  </a:t>
            </a:r>
            <a:r>
              <a:rPr sz="1400" b="1">
                <a:solidFill>
                  <a:srgbClr val="FFFFFE"/>
                </a:solidFill>
                <a:latin typeface="Segoe UI Black"/>
              </a:rPr>
              <a:t>JioTV EPG TV 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2350008"/>
            <a:ext cx="4800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A9BE"/>
                </a:solidFill>
                <a:latin typeface="Segoe UI"/>
              </a:rPr>
              <a:t>Scraped Indian TV anime schedule (EPG cache) — know exactly when an episode airs on your channel.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" y="3566160"/>
            <a:ext cx="5440680" cy="1645920"/>
          </a:xfrm>
          <a:prstGeom prst="roundRect">
            <a:avLst>
              <a:gd name="adj" fmla="val 7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3749039"/>
            <a:ext cx="54864" cy="475488"/>
          </a:xfrm>
          <a:prstGeom prst="roundRect">
            <a:avLst>
              <a:gd name="adj" fmla="val 50000"/>
            </a:avLst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73075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53170"/>
                </a:solidFill>
                <a:latin typeface="Segoe UI"/>
              </a:rPr>
              <a:t>◉  </a:t>
            </a:r>
            <a:r>
              <a:rPr sz="1400" b="1">
                <a:solidFill>
                  <a:srgbClr val="FFFFFE"/>
                </a:solidFill>
                <a:latin typeface="Segoe UI Black"/>
              </a:rPr>
              <a:t>Discord Bot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133087"/>
            <a:ext cx="4800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A9BE"/>
                </a:solidFill>
                <a:latin typeface="Segoe UI"/>
              </a:rPr>
              <a:t>A fourth surface: notifications + community commands bridge ZyniVerse straight into the fandom.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4496" y="3566160"/>
            <a:ext cx="5440680" cy="1645920"/>
          </a:xfrm>
          <a:prstGeom prst="roundRect">
            <a:avLst>
              <a:gd name="adj" fmla="val 7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37376" y="3749039"/>
            <a:ext cx="54864" cy="475488"/>
          </a:xfrm>
          <a:prstGeom prst="roundRect">
            <a:avLst>
              <a:gd name="adj" fmla="val 50000"/>
            </a:avLst>
          </a:prstGeom>
          <a:solidFill>
            <a:srgbClr val="FFC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373075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C257"/>
                </a:solidFill>
                <a:latin typeface="Segoe UI"/>
              </a:rPr>
              <a:t>◆  </a:t>
            </a:r>
            <a:r>
              <a:rPr sz="1400" b="1">
                <a:solidFill>
                  <a:srgbClr val="FFFFFE"/>
                </a:solidFill>
                <a:latin typeface="Segoe UI Black"/>
              </a:rPr>
              <a:t>Public API v1 + Guides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4133087"/>
            <a:ext cx="4800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A9BE"/>
                </a:solidFill>
                <a:latin typeface="Segoe UI"/>
              </a:rPr>
              <a:t>Developer API — scrobble, dub-status, filler, schedule, webhooks — plus 200 filler guides and 40 watch orders.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" y="5230368"/>
            <a:ext cx="11164824" cy="365760"/>
          </a:xfrm>
          <a:prstGeom prst="roundRect">
            <a:avLst>
              <a:gd name="adj" fmla="val 50000"/>
            </a:avLst>
          </a:prstGeom>
          <a:solidFill>
            <a:srgbClr val="242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C257"/>
                </a:solidFill>
                <a:latin typeface="Segoe UI"/>
              </a:rPr>
              <a:t>STILL HARDENED → 37 scrapers blocked · 3-layer caching · k6 load-tested · Stripe Pro + UPI · ads/merch/affiliate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" y="5632704"/>
            <a:ext cx="11164824" cy="566928"/>
          </a:xfrm>
          <a:prstGeom prst="roundRect">
            <a:avLst>
              <a:gd name="adj" fmla="val 14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2064" y="5632704"/>
            <a:ext cx="45720" cy="566928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70128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C2FF"/>
                </a:solidFill>
                <a:latin typeface="Consolas"/>
              </a:rPr>
              <a:t>CODE — manifest.json + server.ts + api/v1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920740"/>
            <a:ext cx="10707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7A9BE"/>
                </a:solidFill>
                <a:latin typeface="Consolas"/>
              </a:rPr>
              <a:t>MV3 content-script → filler % + dub badge   ·   JioTV EPG scrape → tv-schedule cache   ·   discord-bot notifications   ·   api/v1: scrobble · dub-status · schedule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" y="6291072"/>
            <a:ext cx="11164824" cy="14630"/>
          </a:xfrm>
          <a:prstGeom prst="rect">
            <a:avLst/>
          </a:prstGeom>
          <a:solidFill>
            <a:srgbClr val="2C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320">
                <a:solidFill>
                  <a:srgbClr val="5A5B7A"/>
                </a:solidFill>
                <a:latin typeface="Segoe UI"/>
              </a:rPr>
              <a:t>ZYNIVERSE ×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6400800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60">
                <a:solidFill>
                  <a:srgbClr val="5A5B7A"/>
                </a:solidFill>
                <a:latin typeface="Segoe UI"/>
              </a:rPr>
              <a:t>PARTH GUPTA · 2026 ·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737360"/>
            <a:ext cx="4754880" cy="4754880"/>
          </a:xfrm>
          <a:prstGeom prst="ellipse">
            <a:avLst/>
          </a:prstGeom>
          <a:solidFill>
            <a:srgbClr val="7F5AF0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4480560"/>
            <a:ext cx="4206240" cy="4206240"/>
          </a:xfrm>
          <a:prstGeom prst="ellipse">
            <a:avLst/>
          </a:prstGeom>
          <a:solidFill>
            <a:srgbClr val="E5317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-2194560"/>
            <a:ext cx="3108960" cy="3108960"/>
          </a:xfrm>
          <a:prstGeom prst="ellipse">
            <a:avLst/>
          </a:prstGeom>
          <a:solidFill>
            <a:srgbClr val="00C2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7080" y="3840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53170"/>
                </a:solidFill>
                <a:latin typeface="Segoe UI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8686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C257"/>
                </a:solidFill>
                <a:latin typeface="Segoe UI"/>
              </a:rPr>
              <a:t>✧</a:t>
            </a:r>
          </a:p>
        </p:txBody>
      </p:sp>
      <p:sp>
        <p:nvSpPr>
          <p:cNvPr id="8" name="Oval 7"/>
          <p:cNvSpPr/>
          <p:nvPr/>
        </p:nvSpPr>
        <p:spPr>
          <a:xfrm>
            <a:off x="11539728" y="1042415"/>
            <a:ext cx="82296" cy="82296"/>
          </a:xfrm>
          <a:prstGeom prst="ellipse">
            <a:avLst/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6327648"/>
            <a:ext cx="54864" cy="54864"/>
          </a:xfrm>
          <a:prstGeom prst="ellipse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47548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E"/>
                </a:solidFill>
                <a:latin typeface="Segoe UI Black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84048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E"/>
                </a:solidFill>
                <a:latin typeface="Segoe UI Black"/>
              </a:rPr>
              <a:t>AI Isn't the Feature — It's the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07899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7A9BE"/>
                </a:solidFill>
                <a:latin typeface="Segoe UI"/>
              </a:rPr>
              <a:t>One pipeline + one behavioral engine = a personal anime universe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517904"/>
            <a:ext cx="1463040" cy="45720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1517904"/>
            <a:ext cx="640080" cy="45720"/>
          </a:xfrm>
          <a:prstGeom prst="rect">
            <a:avLst/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17556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200">
                <a:solidFill>
                  <a:srgbClr val="00C2FF"/>
                </a:solidFill>
                <a:latin typeface="Segoe UI Black"/>
              </a:rPr>
              <a:t>LIVE DEMO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2212848"/>
            <a:ext cx="1691640" cy="1234440"/>
          </a:xfrm>
          <a:prstGeom prst="roundRect">
            <a:avLst>
              <a:gd name="adj" fmla="val 12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" y="2212848"/>
            <a:ext cx="1691640" cy="45720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359152"/>
            <a:ext cx="1472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E"/>
                </a:solidFill>
                <a:latin typeface="Segoe UI Black"/>
              </a:rPr>
              <a:t>Zyni AI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2889504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7A9BE"/>
                </a:solidFill>
                <a:latin typeface="Segoe UI"/>
              </a:rPr>
              <a:t>ask anything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1992" y="2606040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C257"/>
                </a:solidFill>
                <a:latin typeface="Segoe UI"/>
              </a:rPr>
              <a:t>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04872" y="2212848"/>
            <a:ext cx="1691640" cy="1234440"/>
          </a:xfrm>
          <a:prstGeom prst="roundRect">
            <a:avLst>
              <a:gd name="adj" fmla="val 12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04872" y="2212848"/>
            <a:ext cx="1691640" cy="45720"/>
          </a:xfrm>
          <a:prstGeom prst="rect">
            <a:avLst/>
          </a:prstGeom>
          <a:solidFill>
            <a:srgbClr val="0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2359152"/>
            <a:ext cx="1472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E"/>
                </a:solidFill>
                <a:latin typeface="Segoe UI Black"/>
              </a:rPr>
              <a:t>Screenshot Identify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2889504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7A9BE"/>
                </a:solidFill>
                <a:latin typeface="Segoe UI"/>
              </a:rPr>
              <a:t>drop a frame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2606040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C257"/>
                </a:solidFill>
                <a:latin typeface="Segoe UI"/>
              </a:rPr>
              <a:t>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79" y="2212848"/>
            <a:ext cx="1691640" cy="1234440"/>
          </a:xfrm>
          <a:prstGeom prst="roundRect">
            <a:avLst>
              <a:gd name="adj" fmla="val 12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79" y="2212848"/>
            <a:ext cx="1691640" cy="45720"/>
          </a:xfrm>
          <a:prstGeom prst="rect">
            <a:avLst/>
          </a:prstGeom>
          <a:solidFill>
            <a:srgbClr val="E53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7" y="2359152"/>
            <a:ext cx="1472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E"/>
                </a:solidFill>
                <a:latin typeface="Segoe UI Black"/>
              </a:rPr>
              <a:t>Vibe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7" y="2889504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7A9BE"/>
                </a:solidFill>
                <a:latin typeface="Segoe UI"/>
              </a:rPr>
              <a:t>type a mood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2606040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C257"/>
                </a:solidFill>
                <a:latin typeface="Segoe UI"/>
              </a:rPr>
              <a:t>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2212848"/>
            <a:ext cx="1691640" cy="1234440"/>
          </a:xfrm>
          <a:prstGeom prst="roundRect">
            <a:avLst>
              <a:gd name="adj" fmla="val 12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2212848"/>
            <a:ext cx="1691640" cy="45720"/>
          </a:xfrm>
          <a:prstGeom prst="rect">
            <a:avLst/>
          </a:prstGeom>
          <a:solidFill>
            <a:srgbClr val="FFC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0216" y="2359152"/>
            <a:ext cx="1472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E"/>
                </a:solidFill>
                <a:latin typeface="Segoe UI Black"/>
              </a:rPr>
              <a:t>Install Extension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0216" y="2889504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7A9BE"/>
                </a:solidFill>
                <a:latin typeface="Segoe UI"/>
              </a:rPr>
              <a:t>dub badge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0415" y="2606040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C257"/>
                </a:solidFill>
                <a:latin typeface="Segoe UI"/>
              </a:rPr>
              <a:t>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83296" y="2212848"/>
            <a:ext cx="1691640" cy="1234440"/>
          </a:xfrm>
          <a:prstGeom prst="roundRect">
            <a:avLst>
              <a:gd name="adj" fmla="val 12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83296" y="2212848"/>
            <a:ext cx="1691640" cy="45720"/>
          </a:xfrm>
          <a:prstGeom prst="rect">
            <a:avLst/>
          </a:prstGeom>
          <a:solidFill>
            <a:srgbClr val="2C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93023" y="2359152"/>
            <a:ext cx="1472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E"/>
                </a:solidFill>
                <a:latin typeface="Segoe UI Black"/>
              </a:rPr>
              <a:t>Night Planner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3023" y="2889504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7A9BE"/>
                </a:solidFill>
                <a:latin typeface="Segoe UI"/>
              </a:rPr>
              <a:t>invite friends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93224" y="2606040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C257"/>
                </a:solidFill>
                <a:latin typeface="Segoe UI"/>
              </a:rPr>
              <a:t>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76104" y="2212848"/>
            <a:ext cx="1691640" cy="1234440"/>
          </a:xfrm>
          <a:prstGeom prst="roundRect">
            <a:avLst>
              <a:gd name="adj" fmla="val 12000"/>
            </a:avLst>
          </a:prstGeom>
          <a:solidFill>
            <a:srgbClr val="1C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76104" y="2212848"/>
            <a:ext cx="1691640" cy="45720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85832" y="2359152"/>
            <a:ext cx="14721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E"/>
                </a:solidFill>
                <a:latin typeface="Segoe UI Black"/>
              </a:rPr>
              <a:t>Watch Party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85832" y="2889504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7A9BE"/>
                </a:solidFill>
                <a:latin typeface="Segoe UI"/>
              </a:rPr>
              <a:t>press play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2064" y="3858768"/>
            <a:ext cx="11164824" cy="914400"/>
          </a:xfrm>
          <a:prstGeom prst="roundRect">
            <a:avLst>
              <a:gd name="adj" fmla="val 10000"/>
            </a:avLst>
          </a:prstGeom>
          <a:solidFill>
            <a:srgbClr val="242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12064" y="3858768"/>
            <a:ext cx="54864" cy="914400"/>
          </a:xfrm>
          <a:prstGeom prst="rect">
            <a:avLst/>
          </a:prstGeom>
          <a:solidFill>
            <a:srgbClr val="7F5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3986784"/>
            <a:ext cx="10424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53170"/>
                </a:solidFill>
                <a:latin typeface="Segoe UI Black"/>
              </a:rPr>
              <a:t>TAKEAWAY  —  </a:t>
            </a:r>
            <a:r>
              <a:rPr sz="1400" b="0">
                <a:solidFill>
                  <a:srgbClr val="FFFFFE"/>
                </a:solidFill>
                <a:latin typeface="Segoe UI"/>
              </a:rPr>
              <a:t>A real community at 224+ pages and ~190 models, where one cost-controlled Gemini pipeline, a behavioral recommender, a Chrome extension and real-time watch parties give every user a personal anime universe.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" y="5175504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E"/>
                </a:solidFill>
                <a:latin typeface="Segoe UI Black"/>
              </a:rPr>
              <a:t>THANK YOU · Q &amp; 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" y="58704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7A9BE"/>
                </a:solidFill>
                <a:latin typeface="Segoe UI"/>
              </a:rPr>
              <a:t>zyverse.in   ·   github.com &lt;your-username&gt;   ·   Let's argue about best girl after this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" y="6291072"/>
            <a:ext cx="11164824" cy="14630"/>
          </a:xfrm>
          <a:prstGeom prst="rect">
            <a:avLst/>
          </a:prstGeom>
          <a:solidFill>
            <a:srgbClr val="2C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064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320">
                <a:solidFill>
                  <a:srgbClr val="5A5B7A"/>
                </a:solidFill>
                <a:latin typeface="Segoe UI"/>
              </a:rPr>
              <a:t>ZYNIVERSE × AI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6400800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60">
                <a:solidFill>
                  <a:srgbClr val="5A5B7A"/>
                </a:solidFill>
                <a:latin typeface="Segoe UI"/>
              </a:rPr>
              <a:t>PARTH GUPTA · 2026 ·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